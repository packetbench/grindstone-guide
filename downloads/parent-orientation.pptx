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500fbde1284046" /><Relationship Type="http://schemas.openxmlformats.org/officeDocument/2006/relationships/extended-properties" Target="/docProps/app.xml" Id="R1eec08a1a1894cc6" /><Relationship Type="http://schemas.openxmlformats.org/officeDocument/2006/relationships/officeDocument" Target="/ppt/presentation.xml" Id="R39adaa327fd1446a" /></Relationships>
</file>

<file path=ppt/presentation.xml><?xml version="1.0" encoding="utf-8"?>
<p:presentation xmlns:p="http://schemas.openxmlformats.org/presentationml/2006/main">
  <p:sldMasterIdLst>
    <p:sldMasterId xmlns:r="http://schemas.openxmlformats.org/officeDocument/2006/relationships" id="2147483648" r:id="R4efd9eeb046b4ef3"/>
  </p:sldMasterIdLst>
  <p:notesMasterIdLst>
    <p:notesMasterId xmlns:r="http://schemas.openxmlformats.org/officeDocument/2006/relationships" r:id="R8e4e47850b244be8"/>
  </p:notesMasterIdLst>
  <p:sldIdLst>
    <p:sldId xmlns:r="http://schemas.openxmlformats.org/officeDocument/2006/relationships" id="256" r:id="R9f158afefbac4a01"/>
    <p:sldId xmlns:r="http://schemas.openxmlformats.org/officeDocument/2006/relationships" id="257" r:id="R1f27cde546714bbd"/>
    <p:sldId xmlns:r="http://schemas.openxmlformats.org/officeDocument/2006/relationships" id="258" r:id="Rdc0562c167da4ead"/>
    <p:sldId xmlns:r="http://schemas.openxmlformats.org/officeDocument/2006/relationships" id="259" r:id="Re18226d9ef304106"/>
    <p:sldId xmlns:r="http://schemas.openxmlformats.org/officeDocument/2006/relationships" id="260" r:id="Rbc7ade57f4344f3c"/>
    <p:sldId xmlns:r="http://schemas.openxmlformats.org/officeDocument/2006/relationships" id="261" r:id="Rdbb69a6fc1034c7b"/>
    <p:sldId xmlns:r="http://schemas.openxmlformats.org/officeDocument/2006/relationships" id="262" r:id="Refece948f2404af7"/>
    <p:sldId xmlns:r="http://schemas.openxmlformats.org/officeDocument/2006/relationships" id="263" r:id="R56d85cac65b24590"/>
    <p:sldId xmlns:r="http://schemas.openxmlformats.org/officeDocument/2006/relationships" id="264" r:id="R893f95915bdb4ee6"/>
    <p:sldId xmlns:r="http://schemas.openxmlformats.org/officeDocument/2006/relationships" id="265" r:id="R73cb2c88f4704cb0"/>
    <p:sldId xmlns:r="http://schemas.openxmlformats.org/officeDocument/2006/relationships" id="266" r:id="Rb9dbd042720948a5"/>
    <p:sldId xmlns:r="http://schemas.openxmlformats.org/officeDocument/2006/relationships" id="267" r:id="Re69fa8c882cd424e"/>
    <p:sldId xmlns:r="http://schemas.openxmlformats.org/officeDocument/2006/relationships" id="268" r:id="Ra06d38b7cba0415d"/>
    <p:sldId xmlns:r="http://schemas.openxmlformats.org/officeDocument/2006/relationships" id="269" r:id="Rb58724228e444ee7"/>
    <p:sldId xmlns:r="http://schemas.openxmlformats.org/officeDocument/2006/relationships" id="270" r:id="Reaf335ae84074b5b"/>
    <p:sldId xmlns:r="http://schemas.openxmlformats.org/officeDocument/2006/relationships" id="271" r:id="R7997ef9a1c774e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9bc775f3474598" /><Relationship Type="http://schemas.openxmlformats.org/officeDocument/2006/relationships/slideMaster" Target="/ppt/slideMasters/slideMaster1.xml" Id="R4efd9eeb046b4ef3" /><Relationship Type="http://schemas.openxmlformats.org/officeDocument/2006/relationships/notesMaster" Target="/ppt/notesMasters/notesMaster1.xml" Id="R8e4e47850b244be8" /><Relationship Type="http://schemas.openxmlformats.org/officeDocument/2006/relationships/presProps" Target="/ppt/presProps.xml" Id="R03364bf39f454d90" /><Relationship Type="http://schemas.openxmlformats.org/officeDocument/2006/relationships/tableStyles" Target="/ppt/tableStyles.xml" Id="R57d3c1b69a864c68" /><Relationship Type="http://schemas.openxmlformats.org/officeDocument/2006/relationships/slide" Target="/ppt/slides/slide1.xml" Id="R9f158afefbac4a01" /><Relationship Type="http://schemas.openxmlformats.org/officeDocument/2006/relationships/slide" Target="/ppt/slides/slide2.xml" Id="R1f27cde546714bbd" /><Relationship Type="http://schemas.openxmlformats.org/officeDocument/2006/relationships/slide" Target="/ppt/slides/slide3.xml" Id="Rdc0562c167da4ead" /><Relationship Type="http://schemas.openxmlformats.org/officeDocument/2006/relationships/slide" Target="/ppt/slides/slide4.xml" Id="Re18226d9ef304106" /><Relationship Type="http://schemas.openxmlformats.org/officeDocument/2006/relationships/slide" Target="/ppt/slides/slide5.xml" Id="Rbc7ade57f4344f3c" /><Relationship Type="http://schemas.openxmlformats.org/officeDocument/2006/relationships/slide" Target="/ppt/slides/slide6.xml" Id="Rdbb69a6fc1034c7b" /><Relationship Type="http://schemas.openxmlformats.org/officeDocument/2006/relationships/slide" Target="/ppt/slides/slide7.xml" Id="Refece948f2404af7" /><Relationship Type="http://schemas.openxmlformats.org/officeDocument/2006/relationships/slide" Target="/ppt/slides/slide8.xml" Id="R56d85cac65b24590" /><Relationship Type="http://schemas.openxmlformats.org/officeDocument/2006/relationships/slide" Target="/ppt/slides/slide9.xml" Id="R893f95915bdb4ee6" /><Relationship Type="http://schemas.openxmlformats.org/officeDocument/2006/relationships/slide" Target="/ppt/slides/slide10.xml" Id="R73cb2c88f4704cb0" /><Relationship Type="http://schemas.openxmlformats.org/officeDocument/2006/relationships/slide" Target="/ppt/slides/slide11.xml" Id="Rb9dbd042720948a5" /><Relationship Type="http://schemas.openxmlformats.org/officeDocument/2006/relationships/slide" Target="/ppt/slides/slide12.xml" Id="Re69fa8c882cd424e" /><Relationship Type="http://schemas.openxmlformats.org/officeDocument/2006/relationships/slide" Target="/ppt/slides/slide13.xml" Id="Ra06d38b7cba0415d" /><Relationship Type="http://schemas.openxmlformats.org/officeDocument/2006/relationships/slide" Target="/ppt/slides/slide14.xml" Id="Rb58724228e444ee7" /><Relationship Type="http://schemas.openxmlformats.org/officeDocument/2006/relationships/slide" Target="/ppt/slides/slide15.xml" Id="Reaf335ae84074b5b" /><Relationship Type="http://schemas.openxmlformats.org/officeDocument/2006/relationships/slide" Target="/ppt/slides/slide16.xml" Id="R7997ef9a1c774e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58856b929b42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cc04e843c84013" /><Relationship Type="http://schemas.openxmlformats.org/officeDocument/2006/relationships/notesMaster" Target="/ppt/notesMasters/notesMaster1.xml" Id="R92e932e26ae546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2c2669c4584800" /><Relationship Type="http://schemas.openxmlformats.org/officeDocument/2006/relationships/notesMaster" Target="/ppt/notesMasters/notesMaster1.xml" Id="Rfea9e9bb0a5946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b37f6cd51543de" /><Relationship Type="http://schemas.openxmlformats.org/officeDocument/2006/relationships/notesMaster" Target="/ppt/notesMasters/notesMaster1.xml" Id="R55a350517ea64a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a504cff5bd4fdb" /><Relationship Type="http://schemas.openxmlformats.org/officeDocument/2006/relationships/notesMaster" Target="/ppt/notesMasters/notesMaster1.xml" Id="R3cbc6ae7f9414d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e0d42f3f1849e5" /><Relationship Type="http://schemas.openxmlformats.org/officeDocument/2006/relationships/notesMaster" Target="/ppt/notesMasters/notesMaster1.xml" Id="R6d91b41f1b784b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24dc7acf714a59" /><Relationship Type="http://schemas.openxmlformats.org/officeDocument/2006/relationships/notesMaster" Target="/ppt/notesMasters/notesMaster1.xml" Id="R6bc5ce2120b146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bc8696f7a447db" /><Relationship Type="http://schemas.openxmlformats.org/officeDocument/2006/relationships/notesMaster" Target="/ppt/notesMasters/notesMaster1.xml" Id="R7de85dd9c1a54e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66d00fdbcd4532" /><Relationship Type="http://schemas.openxmlformats.org/officeDocument/2006/relationships/notesMaster" Target="/ppt/notesMasters/notesMaster1.xml" Id="R2beb3c70bb854b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db88a9da474ed2" /><Relationship Type="http://schemas.openxmlformats.org/officeDocument/2006/relationships/notesMaster" Target="/ppt/notesMasters/notesMaster1.xml" Id="Rd3f48ea6b0f844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b64ca790c84092" /><Relationship Type="http://schemas.openxmlformats.org/officeDocument/2006/relationships/notesMaster" Target="/ppt/notesMasters/notesMaster1.xml" Id="R5e660605a7ad4c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5af52fc25af4874" /><Relationship Type="http://schemas.openxmlformats.org/officeDocument/2006/relationships/notesMaster" Target="/ppt/notesMasters/notesMaster1.xml" Id="Re27fd6696e6546b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074791ccf34200" /><Relationship Type="http://schemas.openxmlformats.org/officeDocument/2006/relationships/notesMaster" Target="/ppt/notesMasters/notesMaster1.xml" Id="Ra84ac729f7a44ae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4f9fbcde834fac" /><Relationship Type="http://schemas.openxmlformats.org/officeDocument/2006/relationships/notesMaster" Target="/ppt/notesMasters/notesMaster1.xml" Id="Rf859ed6b4dfd4e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2452a0153474c1c" /><Relationship Type="http://schemas.openxmlformats.org/officeDocument/2006/relationships/notesMaster" Target="/ppt/notesMasters/notesMaster1.xml" Id="R4ef55c3a78a942e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74c92fe3d204714" /><Relationship Type="http://schemas.openxmlformats.org/officeDocument/2006/relationships/notesMaster" Target="/ppt/notesMasters/notesMaster1.xml" Id="R0ddc30d22fef407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5846b7ce93d4227" /><Relationship Type="http://schemas.openxmlformats.org/officeDocument/2006/relationships/notesMaster" Target="/ppt/notesMasters/notesMaster1.xml" Id="R9fe87a8ae96241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0:00–0:30 | 30 seconds</a:t>
            </a:r>
          </a:p>
          <a:p xmlns:a="http://schemas.openxmlformats.org/drawingml/2006/main">
            <a:r>
              <a:t/>
            </a:r>
          </a:p>
          <a:p xmlns:a="http://schemas.openxmlformats.org/drawingml/2006/main">
            <a:r>
              <a:t>Welcome, Mat Rats and Valkyries families. We are part of Grindstone Wrestling Club under the Westminster Area Recreation Council. In ten minutes, we will cover scoring, match flow and meet preparation. Mat Rats wrestles folkstyle in the Mid Maryland Wrestling League. For our youngest families, the published first-year Pups clinic, ages four through six, is practice only, with no competitions.</a:t>
            </a:r>
          </a:p>
          <a:p xmlns:a="http://schemas.openxmlformats.org/drawingml/2006/main">
            <a:r>
              <a:t/>
            </a:r>
          </a:p>
          <a:p xmlns:a="http://schemas.openxmlformats.org/drawingml/2006/main">
            <a:r>
              <a:t>SOURCES</a:t>
            </a:r>
          </a:p>
          <a:p xmlns:a="http://schemas.openxmlformats.org/drawingml/2006/main">
            <a:r>
              <a:t>Grindstone Wrestling Club</a:t>
            </a:r>
          </a:p>
          <a:p xmlns:a="http://schemas.openxmlformats.org/drawingml/2006/main">
            <a:r>
              <a:t>https://www.grindstonewrestling.org/</a:t>
            </a:r>
          </a:p>
          <a:p xmlns:a="http://schemas.openxmlformats.org/drawingml/2006/main">
            <a:r>
              <a:t>Scope: Program relationship, team names and development philosophy</a:t>
            </a:r>
          </a:p>
          <a:p xmlns:a="http://schemas.openxmlformats.org/drawingml/2006/main">
            <a:r>
              <a:t/>
            </a:r>
          </a:p>
          <a:p xmlns:a="http://schemas.openxmlformats.org/drawingml/2006/main">
            <a:r>
              <a:t>Grindstone Mat Rats program</a:t>
            </a:r>
          </a:p>
          <a:p xmlns:a="http://schemas.openxmlformats.org/drawingml/2006/main">
            <a:r>
              <a:t>https://www.grindstonewrestling.org/mat-rats</a:t>
            </a:r>
          </a:p>
          <a:p xmlns:a="http://schemas.openxmlformats.org/drawingml/2006/main">
            <a:r>
              <a:t>Scope: Folkstyle, ages, Pups clinic, MMWL participation</a:t>
            </a:r>
          </a:p>
          <a:p xmlns:a="http://schemas.openxmlformats.org/drawingml/2006/main">
            <a:r>
              <a:t/>
            </a:r>
          </a:p>
          <a:p xmlns:a="http://schemas.openxmlformats.org/drawingml/2006/main">
            <a:r>
              <a:t>Grindstone Valkyries program</a:t>
            </a:r>
          </a:p>
          <a:p xmlns:a="http://schemas.openxmlformats.org/drawingml/2006/main">
            <a:r>
              <a:t>https://www.grindstonewrestling.org/copy-of-mat-rats</a:t>
            </a:r>
          </a:p>
          <a:p xmlns:a="http://schemas.openxmlformats.org/drawingml/2006/main">
            <a:r>
              <a:t>Scope: Girls program, optional competitions and event requirements</a:t>
            </a:r>
          </a:p>
          <a:p xmlns:a="http://schemas.openxmlformats.org/drawingml/2006/main">
            <a:r>
              <a:t/>
            </a:r>
          </a:p>
          <a:p xmlns:a="http://schemas.openxmlformats.org/drawingml/2006/main">
            <a:r>
              <a:t>Logo: Grindstone Wrestling Club official website, https://www.grindstonewrestling.org/mat-rats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0:30–1:05 | 35 seconds</a:t>
            </a:r>
          </a:p>
          <a:p xmlns:a="http://schemas.openxmlformats.org/drawingml/2006/main">
            <a:r>
              <a:t/>
            </a:r>
          </a:p>
          <a:p xmlns:a="http://schemas.openxmlformats.org/drawingml/2006/main">
            <a:r>
              <a:t>A match, also called a bout, is your child wrestling one opponent. The meet is the whole event, with lots of matches, often on several mats. A tournament organizes wrestlers into brackets or pools. Those formats can give you different numbers of matches, so one loss does not automatically mean the day is over. For regular MMWL meets, pairings aim to account for age, weight, and experience. Ask the coach about any mismatch before the match. Your first practical job is finding your child's bout number and mat number.</a:t>
            </a:r>
          </a:p>
          <a:p xmlns:a="http://schemas.openxmlformats.org/drawingml/2006/main">
            <a:r>
              <a:t/>
            </a:r>
          </a:p>
          <a:p xmlns:a="http://schemas.openxmlformats.org/drawingml/2006/main">
            <a:r>
              <a:t>SOURCES</a:t>
            </a:r>
          </a:p>
          <a:p xmlns:a="http://schemas.openxmlformats.org/drawingml/2006/main">
            <a:r>
              <a:t>Grindstone Mat Rats program</a:t>
            </a:r>
          </a:p>
          <a:p xmlns:a="http://schemas.openxmlformats.org/drawingml/2006/main">
            <a:r>
              <a:t>https://www.grindstonewrestling.org/mat-rats</a:t>
            </a:r>
          </a:p>
          <a:p xmlns:a="http://schemas.openxmlformats.org/drawingml/2006/main">
            <a:r>
              <a:t>Scope: Folkstyle, ages, Pups clinic, MMWL participation</a:t>
            </a:r>
          </a:p>
          <a:p xmlns:a="http://schemas.openxmlformats.org/drawingml/2006/main">
            <a:r>
              <a:t/>
            </a:r>
          </a:p>
          <a:p xmlns:a="http://schemas.openxmlformats.org/drawingml/2006/main">
            <a:r>
              <a:t>MMWL overview by member club Predators Wrestling</a:t>
            </a:r>
          </a:p>
          <a:p xmlns:a="http://schemas.openxmlformats.org/drawingml/2006/main">
            <a:r>
              <a:t>https://www.predatorswrestling.com/about-us/leagues/mid-maryland-wrestling-league</a:t>
            </a:r>
          </a:p>
          <a:p xmlns:a="http://schemas.openxmlformats.org/drawingml/2006/main">
            <a:r>
              <a:t>Scope: Corroborating local description, not a league-issued current rulebook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1:05–1:50 | 45 seconds</a:t>
            </a:r>
          </a:p>
          <a:p xmlns:a="http://schemas.openxmlformats.org/drawingml/2006/main">
            <a:r>
              <a:t/>
            </a:r>
          </a:p>
          <a:p xmlns:a="http://schemas.openxmlformats.org/drawingml/2006/main">
            <a:r>
              <a:t>The goal is a pin or a win on points. Start by asking who has control. In neutral, neither wrestler controls the other. You will usually see both standing. Once someone earns control on the mat, that wrestler is on top. The other is on bottom. Top and bottom describe control, not simply whose body is higher. The bottom wrestler can stand up while the opponent still controls them. That is why standing alone does not earn a point. In a scramble, wait for the referee to signal control. The coach can explain a close call after the match.</a:t>
            </a:r>
          </a:p>
          <a:p xmlns:a="http://schemas.openxmlformats.org/drawingml/2006/main">
            <a:r>
              <a:t/>
            </a:r>
          </a:p>
          <a:p xmlns:a="http://schemas.openxmlformats.org/drawingml/2006/main">
            <a:r>
              <a:t>SOURCES</a:t>
            </a:r>
          </a:p>
          <a:p xmlns:a="http://schemas.openxmlformats.org/drawingml/2006/main">
            <a:r>
              <a:t>USA Wrestling Core Curriculum, Folkstyle Level 1</a:t>
            </a:r>
          </a:p>
          <a:p xmlns:a="http://schemas.openxmlformats.org/drawingml/2006/main">
            <a:r>
              <a:t>https://www.usawmembership.com/usa_wrestling_core_curriculum/1</a:t>
            </a:r>
          </a:p>
          <a:p xmlns:a="http://schemas.openxmlformats.org/drawingml/2006/main">
            <a:r>
              <a:t>Scope: Neutral, referee's position and top position; optional position references</a:t>
            </a:r>
          </a:p>
          <a:p xmlns:a="http://schemas.openxmlformats.org/drawingml/2006/main">
            <a:r>
              <a:t/>
            </a:r>
          </a:p>
          <a:p xmlns:a="http://schemas.openxmlformats.org/drawingml/2006/main">
            <a:r>
              <a:t>NFHS Wrestling Rules Changes 2024–25</a:t>
            </a:r>
          </a:p>
          <a:p xmlns:a="http://schemas.openxmlformats.org/drawingml/2006/main">
            <a:r>
              <a:t>https://www.nfhs.org/resources/sports/wrestling-rules-changes-2024-25</a:t>
            </a:r>
          </a:p>
          <a:p xmlns:a="http://schemas.openxmlformats.org/drawingml/2006/main">
            <a:r>
              <a:t>Scope: Three-point takedown and two-, three-, four-point near fall</a:t>
            </a:r>
          </a:p>
          <a:p xmlns:a="http://schemas.openxmlformats.org/drawingml/2006/main">
            <a:r>
              <a:t/>
            </a:r>
          </a:p>
          <a:p xmlns:a="http://schemas.openxmlformats.org/drawingml/2006/main">
            <a:r>
              <a:t>NFHS Wrestling Rules Book 2024–25, definitions and individual scoring</a:t>
            </a:r>
          </a:p>
          <a:p xmlns:a="http://schemas.openxmlformats.org/drawingml/2006/main">
            <a:r>
              <a:t>https://www.utahwrestling.org/NFHSWrestlingRuleBook24_25.pdf</a:t>
            </a:r>
          </a:p>
          <a:p xmlns:a="http://schemas.openxmlformats.org/drawingml/2006/main">
            <a:r>
              <a:t>Scope: Rules 5 and 9-1: control, escape, reversal and scoring. Checked against 2025–26 and 2026–27 changes.</a:t>
            </a:r>
          </a:p>
          <a:p xmlns:a="http://schemas.openxmlformats.org/drawingml/2006/main">
            <a:r>
              <a:t/>
            </a:r>
          </a:p>
          <a:p xmlns:a="http://schemas.openxmlformats.org/drawingml/2006/main">
            <a:r>
              <a:t>Images: USA Wrestling Core Curriculum position reference video thumbnails, official listing https://www.usawmembership.com/usa_wrestling_core_curriculum/1</a:t>
            </a:r>
          </a:p>
          <a:p xmlns:a="http://schemas.openxmlformats.org/drawingml/2006/main">
            <a:r>
              <a:t>Neutral https://www.youtube.com/embed/crvfcKsaN0g</a:t>
            </a:r>
          </a:p>
          <a:p xmlns:a="http://schemas.openxmlformats.org/drawingml/2006/main">
            <a:r>
              <a:t>Top https://www.youtube.com/embed/XE-arJ089DQ</a:t>
            </a:r>
          </a:p>
          <a:p xmlns:a="http://schemas.openxmlformats.org/drawingml/2006/main">
            <a:r>
              <a:t>Bottom https://www.youtube.com/embed/uY-3koB1O_M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1:50–2:50 | 60 seconds</a:t>
            </a:r>
          </a:p>
          <a:p xmlns:a="http://schemas.openxmlformats.org/drawingml/2006/main">
            <a:r>
              <a:t/>
            </a:r>
          </a:p>
          <a:p xmlns:a="http://schemas.openxmlformats.org/drawingml/2006/main">
            <a:r>
              <a:t>Here are the three numbers to remember. A takedown is three points. A wrestler starts from neutral and gains control of the opponent on the mat. An escape is one point. The bottom wrestler gets free and returns to neutral. A reversal is two points. The bottom wrestler takes control directly, without first returning to neutral. That is two points total, not one for an escape plus two for a reversal. Older guides may show a two-point takedown. Current NFHS scoring, which USA Wrestling uses as its folkstyle foundation, awards three. There can also be penalty points. You do not have to diagnose every penalty from the stands; listen to the referee and let the coach handle questions.</a:t>
            </a:r>
          </a:p>
          <a:p xmlns:a="http://schemas.openxmlformats.org/drawingml/2006/main">
            <a:r>
              <a:t/>
            </a:r>
          </a:p>
          <a:p xmlns:a="http://schemas.openxmlformats.org/drawingml/2006/main">
            <a:r>
              <a:t>SOURCES</a:t>
            </a:r>
          </a:p>
          <a:p xmlns:a="http://schemas.openxmlformats.org/drawingml/2006/main">
            <a:r>
              <a:t>NFHS Wrestling Rules Changes 2024–25</a:t>
            </a:r>
          </a:p>
          <a:p xmlns:a="http://schemas.openxmlformats.org/drawingml/2006/main">
            <a:r>
              <a:t>https://www.nfhs.org/resources/sports/wrestling-rules-changes-2024-25</a:t>
            </a:r>
          </a:p>
          <a:p xmlns:a="http://schemas.openxmlformats.org/drawingml/2006/main">
            <a:r>
              <a:t>Scope: Three-point takedown and two-, three-, four-point near fall</a:t>
            </a:r>
          </a:p>
          <a:p xmlns:a="http://schemas.openxmlformats.org/drawingml/2006/main">
            <a:r>
              <a:t/>
            </a:r>
          </a:p>
          <a:p xmlns:a="http://schemas.openxmlformats.org/drawingml/2006/main">
            <a:r>
              <a:t>NFHS Wrestling Rules Changes 2026–27</a:t>
            </a:r>
          </a:p>
          <a:p xmlns:a="http://schemas.openxmlformats.org/drawingml/2006/main">
            <a:r>
              <a:t>https://www.nfhs.org/sports/wrestling/rules</a:t>
            </a:r>
          </a:p>
          <a:p xmlns:a="http://schemas.openxmlformats.org/drawingml/2006/main">
            <a:r>
              <a:t>Scope: Current-season changes and scoring continuity</a:t>
            </a:r>
          </a:p>
          <a:p xmlns:a="http://schemas.openxmlformats.org/drawingml/2006/main">
            <a:r>
              <a:t/>
            </a:r>
          </a:p>
          <a:p xmlns:a="http://schemas.openxmlformats.org/drawingml/2006/main">
            <a:r>
              <a:t>USA Wrestling Rule Book, section 25: folkstyle</a:t>
            </a:r>
          </a:p>
          <a:p xmlns:a="http://schemas.openxmlformats.org/drawingml/2006/main">
            <a:r>
              <a:t>https://www.usawmembership.com/usa_wrestling_rule_book</a:t>
            </a:r>
          </a:p>
          <a:p xmlns:a="http://schemas.openxmlformats.org/drawingml/2006/main">
            <a:r>
              <a:t>Scope: NFHS rule foundation and USA Wrestling event modifications</a:t>
            </a:r>
          </a:p>
          <a:p xmlns:a="http://schemas.openxmlformats.org/drawingml/2006/main">
            <a:r>
              <a:t/>
            </a:r>
          </a:p>
          <a:p xmlns:a="http://schemas.openxmlformats.org/drawingml/2006/main">
            <a:r>
              <a:t>NFHS Wrestling Rules Book 2024–25, definitions and individual scoring</a:t>
            </a:r>
          </a:p>
          <a:p xmlns:a="http://schemas.openxmlformats.org/drawingml/2006/main">
            <a:r>
              <a:t>https://www.utahwrestling.org/NFHSWrestlingRuleBook24_25.pdf</a:t>
            </a:r>
          </a:p>
          <a:p xmlns:a="http://schemas.openxmlformats.org/drawingml/2006/main">
            <a:r>
              <a:t>Scope: Rules 5 and 9-1: control, escape, reversal and scoring. Checked against 2025–26 and 2026–27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2:50–3:45 | 55 seconds</a:t>
            </a:r>
          </a:p>
          <a:p xmlns:a="http://schemas.openxmlformats.org/drawingml/2006/main">
            <a:r>
              <a:t/>
            </a:r>
          </a:p>
          <a:p xmlns:a="http://schemas.openxmlformats.org/drawingml/2006/main">
            <a:r>
              <a:t>Near fall is what parents often call back points. The wrestler in control holds the opponent in a qualifying position near a pin. The referee's count matters: two seconds earns two points, three earns three, and four earns four. Simply rolling across the back does not automatically score. A pin is different. Under standard NFHS folkstyle rules, both shoulders or shoulder blades are held to the mat for two seconds. The referee calls the fall and the match ends. A wrestler who is behind can still win by pin. Near-fall points may appear only after the pinning situation ends, so the scoreboard can lag behind what you are watching.</a:t>
            </a:r>
          </a:p>
          <a:p xmlns:a="http://schemas.openxmlformats.org/drawingml/2006/main">
            <a:r>
              <a:t/>
            </a:r>
          </a:p>
          <a:p xmlns:a="http://schemas.openxmlformats.org/drawingml/2006/main">
            <a:r>
              <a:t>SOURCES</a:t>
            </a:r>
          </a:p>
          <a:p xmlns:a="http://schemas.openxmlformats.org/drawingml/2006/main">
            <a:r>
              <a:t>NFHS Wrestling Rules Changes 2024–25</a:t>
            </a:r>
          </a:p>
          <a:p xmlns:a="http://schemas.openxmlformats.org/drawingml/2006/main">
            <a:r>
              <a:t>https://www.nfhs.org/resources/sports/wrestling-rules-changes-2024-25</a:t>
            </a:r>
          </a:p>
          <a:p xmlns:a="http://schemas.openxmlformats.org/drawingml/2006/main">
            <a:r>
              <a:t>Scope: Three-point takedown and two-, three-, four-point near fall</a:t>
            </a:r>
          </a:p>
          <a:p xmlns:a="http://schemas.openxmlformats.org/drawingml/2006/main">
            <a:r>
              <a:t/>
            </a:r>
          </a:p>
          <a:p xmlns:a="http://schemas.openxmlformats.org/drawingml/2006/main">
            <a:r>
              <a:t>NFHS Wrestling Rules Interpretations 2024–25</a:t>
            </a:r>
          </a:p>
          <a:p xmlns:a="http://schemas.openxmlformats.org/drawingml/2006/main">
            <a:r>
              <a:t>https://www.nfhs.org/resources/sports/wrestling-rules-interpretations-2024-25</a:t>
            </a:r>
          </a:p>
          <a:p xmlns:a="http://schemas.openxmlformats.org/drawingml/2006/main">
            <a:r>
              <a:t>Scope: Near-fall edge cases; ordinary scoring versus exceptions</a:t>
            </a:r>
          </a:p>
          <a:p xmlns:a="http://schemas.openxmlformats.org/drawingml/2006/main">
            <a:r>
              <a:t/>
            </a:r>
          </a:p>
          <a:p xmlns:a="http://schemas.openxmlformats.org/drawingml/2006/main">
            <a:r>
              <a:t>NFHS Wrestling Rules Book 2024–25, hosted by Utah USA Wrestling</a:t>
            </a:r>
          </a:p>
          <a:p xmlns:a="http://schemas.openxmlformats.org/drawingml/2006/main">
            <a:r>
              <a:t>https://www.utahwrestling.org/NFHSWrestlingRuleBook24_25.pdf</a:t>
            </a:r>
          </a:p>
          <a:p xmlns:a="http://schemas.openxmlformats.org/drawingml/2006/main">
            <a:r>
              <a:t>Scope: Rule 5-11-1, printed page 24: fall definition. Read alongside official 2025–26 and 2026–27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3:45–4:45 | 60 seconds</a:t>
            </a:r>
          </a:p>
          <a:p xmlns:a="http://schemas.openxmlformats.org/drawingml/2006/main">
            <a:r>
              <a:t/>
            </a:r>
          </a:p>
          <a:p xmlns:a="http://schemas.openxmlformats.org/drawingml/2006/main">
            <a:r>
              <a:t>Let's follow one example. Green gets the first takedown: three to zero. Red escapes: three to one. Both are now neutral. Red then earns a takedown. Red has four, and Green still has three. Finally, Green reverses and takes control. The score is now Green five, Red four. That reversal was two points. These are running totals; the score does not reset when the next period starts. Before your child's match, check whether they are Green or Red on that mat. Use the assigned color and the referee's matching wristband, rather than assuming the singlet color tells you which score is theirs.</a:t>
            </a:r>
          </a:p>
          <a:p xmlns:a="http://schemas.openxmlformats.org/drawingml/2006/main">
            <a:r>
              <a:t/>
            </a:r>
          </a:p>
          <a:p xmlns:a="http://schemas.openxmlformats.org/drawingml/2006/main">
            <a:r>
              <a:t>SOURCES</a:t>
            </a:r>
          </a:p>
          <a:p xmlns:a="http://schemas.openxmlformats.org/drawingml/2006/main">
            <a:r>
              <a:t>NFHS Wrestling Rules Changes 2024–25</a:t>
            </a:r>
          </a:p>
          <a:p xmlns:a="http://schemas.openxmlformats.org/drawingml/2006/main">
            <a:r>
              <a:t>https://www.nfhs.org/resources/sports/wrestling-rules-changes-2024-25</a:t>
            </a:r>
          </a:p>
          <a:p xmlns:a="http://schemas.openxmlformats.org/drawingml/2006/main">
            <a:r>
              <a:t>Scope: Three-point takedown and two-, three-, four-point near fall</a:t>
            </a:r>
          </a:p>
          <a:p xmlns:a="http://schemas.openxmlformats.org/drawingml/2006/main">
            <a:r>
              <a:t/>
            </a:r>
          </a:p>
          <a:p xmlns:a="http://schemas.openxmlformats.org/drawingml/2006/main">
            <a:r>
              <a:t>NFHS Wrestling Rules Book 2024–25, definitions and individual scoring</a:t>
            </a:r>
          </a:p>
          <a:p xmlns:a="http://schemas.openxmlformats.org/drawingml/2006/main">
            <a:r>
              <a:t>https://www.utahwrestling.org/NFHSWrestlingRuleBook24_25.pdf</a:t>
            </a:r>
          </a:p>
          <a:p xmlns:a="http://schemas.openxmlformats.org/drawingml/2006/main">
            <a:r>
              <a:t>Scope: Rules 5 and 9-1: control, escape, reversal and scoring. Checked against 2025–26 and 2026–27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4:45–6:15 | 90 seconds</a:t>
            </a:r>
          </a:p>
          <a:p xmlns:a="http://schemas.openxmlformats.org/drawingml/2006/main">
            <a:r>
              <a:t/>
            </a:r>
          </a:p>
          <a:p xmlns:a="http://schemas.openxmlformats.org/drawingml/2006/main">
            <a:r>
              <a:t>A standard match has three periods. The first starts neutral; the coach guides later position choices. Confirm period lengths and overtime with the coach. A pin ends the match. A fifteen-point lead can end it by technical fall, after qualifying near-fall action finishes. Otherwise, the higher score wins after regulation. A whistle alone does not mean points. Boundaries, stalemates and safety concerns can simply stop action. Penalty points go to the opponent. False starts and starting-position errors share two cautions, then one point for each later infraction. Stalling means failing to make an honest effort to wrestle; it has a warning before points. Locked hands is an illegal clasp from top around the body or both legs, with standing, lifting and near-fall exceptions. Grabbing gear, illegal holds and unnecessary roughness can also cost points without a warning. A full nelson is one illegal-hold example. Different calls use different penalty counts, and repeated violations can end the match. The penalties page explains those counts, and slide sixteen is available during questions. Let the coach handle disputed calls.</a:t>
            </a:r>
          </a:p>
          <a:p xmlns:a="http://schemas.openxmlformats.org/drawingml/2006/main">
            <a:r>
              <a:t/>
            </a:r>
          </a:p>
          <a:p xmlns:a="http://schemas.openxmlformats.org/drawingml/2006/main">
            <a:r>
              <a:t>SOURCES</a:t>
            </a:r>
          </a:p>
          <a:p xmlns:a="http://schemas.openxmlformats.org/drawingml/2006/main">
            <a:r>
              <a:t>MMWL overview by member club Predators Wrestling</a:t>
            </a:r>
          </a:p>
          <a:p xmlns:a="http://schemas.openxmlformats.org/drawingml/2006/main">
            <a:r>
              <a:t>https://www.predatorswrestling.com/about-us/leagues/mid-maryland-wrestling-league</a:t>
            </a:r>
          </a:p>
          <a:p xmlns:a="http://schemas.openxmlformats.org/drawingml/2006/main">
            <a:r>
              <a:t>Scope: Corroborating local description, not a league-issued current rulebook</a:t>
            </a:r>
          </a:p>
          <a:p xmlns:a="http://schemas.openxmlformats.org/drawingml/2006/main">
            <a:r>
              <a:t/>
            </a:r>
          </a:p>
          <a:p xmlns:a="http://schemas.openxmlformats.org/drawingml/2006/main">
            <a:r>
              <a:t>NFHS Wrestling Rules Changes 2025–26</a:t>
            </a:r>
          </a:p>
          <a:p xmlns:a="http://schemas.openxmlformats.org/drawingml/2006/main">
            <a:r>
              <a:t>https://www.nfhs.org/resources/sports/wrestling-rules-changes-2025-26</a:t>
            </a:r>
          </a:p>
          <a:p xmlns:a="http://schemas.openxmlformats.org/drawingml/2006/main">
            <a:r>
              <a:t>Scope: Technical fall and near-fall continuation clarification</a:t>
            </a:r>
          </a:p>
          <a:p xmlns:a="http://schemas.openxmlformats.org/drawingml/2006/main">
            <a:r>
              <a:t/>
            </a:r>
          </a:p>
          <a:p xmlns:a="http://schemas.openxmlformats.org/drawingml/2006/main">
            <a:r>
              <a:t>NFHS Wrestling Rules Changes 2026–27</a:t>
            </a:r>
          </a:p>
          <a:p xmlns:a="http://schemas.openxmlformats.org/drawingml/2006/main">
            <a:r>
              <a:t>https://www.nfhs.org/sports/wrestling/rules</a:t>
            </a:r>
          </a:p>
          <a:p xmlns:a="http://schemas.openxmlformats.org/drawingml/2006/main">
            <a:r>
              <a:t>Scope: Current-season changes and scoring continuity</a:t>
            </a:r>
          </a:p>
          <a:p xmlns:a="http://schemas.openxmlformats.org/drawingml/2006/main">
            <a:r>
              <a:t/>
            </a:r>
          </a:p>
          <a:p xmlns:a="http://schemas.openxmlformats.org/drawingml/2006/main">
            <a:r>
              <a:t>NFHS Wrestling Rules Book 2024–25, hosted by Utah USA Wrestling</a:t>
            </a:r>
          </a:p>
          <a:p xmlns:a="http://schemas.openxmlformats.org/drawingml/2006/main">
            <a:r>
              <a:t>https://www.utahwrestling.org/NFHSWrestlingRuleBook24_25.pdf</a:t>
            </a:r>
          </a:p>
          <a:p xmlns:a="http://schemas.openxmlformats.org/drawingml/2006/main">
            <a:r>
              <a:t>Scope: Rules 6-2 and 6-3, printed pages 33–34: periods and choice. Read alongside official 2025–26 and 2026–27 changes.</a:t>
            </a:r>
          </a:p>
          <a:p xmlns:a="http://schemas.openxmlformats.org/drawingml/2006/main">
            <a:r>
              <a:t/>
            </a:r>
          </a:p>
          <a:p xmlns:a="http://schemas.openxmlformats.org/drawingml/2006/main">
            <a:r>
              <a:t>NFHS penalty rules and charts, 2024–25 book with later changes</a:t>
            </a:r>
          </a:p>
          <a:p xmlns:a="http://schemas.openxmlformats.org/drawingml/2006/main">
            <a:r>
              <a:t>https://www.utahwrestling.org/NFHSWrestlingRuleBook24_25.pdf</a:t>
            </a:r>
          </a:p>
          <a:p xmlns:a="http://schemas.openxmlformats.org/drawingml/2006/main">
            <a:r>
              <a:t>Scope: Rules 5, 7 and 8; printed pages 44–45 penalty charts. Starting cautions, stalling and the shared match-penalty sequence are separate. Checked with official 2025–26 and 2026–27 changes.</a:t>
            </a:r>
          </a:p>
          <a:p xmlns:a="http://schemas.openxmlformats.org/drawingml/2006/main">
            <a:r>
              <a:t/>
            </a:r>
          </a:p>
          <a:p xmlns:a="http://schemas.openxmlformats.org/drawingml/2006/main">
            <a:r>
              <a:t>NFHS Wrestling Comments on the Rules 2026–27</a:t>
            </a:r>
          </a:p>
          <a:p xmlns:a="http://schemas.openxmlformats.org/drawingml/2006/main">
            <a:r>
              <a:t>https://www.nfhs.org/resources/sports/wrestling-comments-on-the-rules-2026-27</a:t>
            </a:r>
          </a:p>
          <a:p xmlns:a="http://schemas.openxmlformats.org/drawingml/2006/main">
            <a:r>
              <a:t>Scope: Current stalling and neutral boundary clarification; a normal boundary stop does not automatically mean a penalty.</a:t>
            </a:r>
          </a:p>
          <a:p xmlns:a="http://schemas.openxmlformats.org/drawingml/2006/main">
            <a:r>
              <a:t/>
            </a:r>
          </a:p>
          <a:p xmlns:a="http://schemas.openxmlformats.org/drawingml/2006/main">
            <a:r>
              <a:t>USA Wrestling Rule Book, section 25: folkstyle</a:t>
            </a:r>
          </a:p>
          <a:p xmlns:a="http://schemas.openxmlformats.org/drawingml/2006/main">
            <a:r>
              <a:t>https://www.usawmembership.com/usa_wrestling_rule_book</a:t>
            </a:r>
          </a:p>
          <a:p xmlns:a="http://schemas.openxmlformats.org/drawingml/2006/main">
            <a:r>
              <a:t>Scope: NFHS rule foundation and USA Wrestling event modifications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6:15–7:15 | 60 seconds</a:t>
            </a:r>
          </a:p>
          <a:p xmlns:a="http://schemas.openxmlformats.org/drawingml/2006/main">
            <a:r>
              <a:t/>
            </a:r>
          </a:p>
          <a:p xmlns:a="http://schemas.openxmlformats.org/drawingml/2006/main">
            <a:r>
              <a:t>The team's message is your guide for that particular day. Confirm the arrival deadline, the location, and whether weigh-ins happen there or earlier. Some tournaments need separate registration or a membership. When you arrive, check in, find the coach, and learn how bouts will be called. On deck usually means your match is next. In the hole usually means the match after that. Keep watching because mats and bout order can change. A bout number is not a start time. Find your coach before reporting. Plan for waiting, water, and familiar snacks. After a match, check with the coach about the next assignment. Before leaving, make sure your child is finished and the coach knows.</a:t>
            </a:r>
          </a:p>
          <a:p xmlns:a="http://schemas.openxmlformats.org/drawingml/2006/main">
            <a:r>
              <a:t/>
            </a:r>
          </a:p>
          <a:p xmlns:a="http://schemas.openxmlformats.org/drawingml/2006/main">
            <a:r>
              <a:t>SOURCES</a:t>
            </a:r>
          </a:p>
          <a:p xmlns:a="http://schemas.openxmlformats.org/drawingml/2006/main">
            <a:r>
              <a:t>MMWL overview by member club Predators Wrestling</a:t>
            </a:r>
          </a:p>
          <a:p xmlns:a="http://schemas.openxmlformats.org/drawingml/2006/main">
            <a:r>
              <a:t>https://www.predatorswrestling.com/about-us/leagues/mid-maryland-wrestling-league</a:t>
            </a:r>
          </a:p>
          <a:p xmlns:a="http://schemas.openxmlformats.org/drawingml/2006/main">
            <a:r>
              <a:t>Scope: Corroborating local description, not a league-issued current rulebook</a:t>
            </a:r>
          </a:p>
          <a:p xmlns:a="http://schemas.openxmlformats.org/drawingml/2006/main">
            <a:r>
              <a:t/>
            </a:r>
          </a:p>
          <a:p xmlns:a="http://schemas.openxmlformats.org/drawingml/2006/main">
            <a:r>
              <a:t>Grindstone Mat Rats program</a:t>
            </a:r>
          </a:p>
          <a:p xmlns:a="http://schemas.openxmlformats.org/drawingml/2006/main">
            <a:r>
              <a:t>https://www.grindstonewrestling.org/mat-rats</a:t>
            </a:r>
          </a:p>
          <a:p xmlns:a="http://schemas.openxmlformats.org/drawingml/2006/main">
            <a:r>
              <a:t>Scope: Folkstyle, ages, Pups clinic, MMWL participation</a:t>
            </a:r>
          </a:p>
          <a:p xmlns:a="http://schemas.openxmlformats.org/drawingml/2006/main">
            <a:r>
              <a:t/>
            </a:r>
          </a:p>
          <a:p xmlns:a="http://schemas.openxmlformats.org/drawingml/2006/main">
            <a:r>
              <a:t>Grindstone Valkyries program</a:t>
            </a:r>
          </a:p>
          <a:p xmlns:a="http://schemas.openxmlformats.org/drawingml/2006/main">
            <a:r>
              <a:t>https://www.grindstonewrestling.org/copy-of-mat-rats</a:t>
            </a:r>
          </a:p>
          <a:p xmlns:a="http://schemas.openxmlformats.org/drawingml/2006/main">
            <a:r>
              <a:t>Scope: Girls program, optional competitions and event requirements</a:t>
            </a:r>
          </a:p>
          <a:p xmlns:a="http://schemas.openxmlformats.org/drawingml/2006/main">
            <a:r>
              <a:t/>
            </a:r>
          </a:p>
          <a:p xmlns:a="http://schemas.openxmlformats.org/drawingml/2006/main">
            <a:r>
              <a:t>USA Wrestling, Step By Step</a:t>
            </a:r>
          </a:p>
          <a:p xmlns:a="http://schemas.openxmlformats.org/drawingml/2006/main">
            <a:r>
              <a:t>https://www.themat.com/news/2019/january/16/step-by-step</a:t>
            </a:r>
          </a:p>
          <a:p xmlns:a="http://schemas.openxmlformats.org/drawingml/2006/main">
            <a:r>
              <a:t>Scope: Preparing for the event and finding mat assignments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7:15–8:20 | 65 seconds</a:t>
            </a:r>
          </a:p>
          <a:p xmlns:a="http://schemas.openxmlformats.org/drawingml/2006/main">
            <a:r>
              <a:t/>
            </a:r>
          </a:p>
          <a:p xmlns:a="http://schemas.openxmlformats.org/drawingml/2006/main">
            <a:r>
              <a:t>Pack the uniform, wrestling shoes, and headgear, plus water, snacks, and a warm layer. Ask about mouthguard rules, especially with braces. Tell the coach about pain, illness, or a suspicious skin spot before contact. Shower after wrestling, wash used clothing, and avoid sharing towels. If a concussion is suspected, stop participation. There is no return that day, and a healthcare provider must clear the return to sports. For growing children, keep meals and hydration normal. Do not try to make a weight by skipping food, restricting water, or sweating it off. Talk with the coach about the appropriate division and with your child's clinician about health concerns.</a:t>
            </a:r>
          </a:p>
          <a:p xmlns:a="http://schemas.openxmlformats.org/drawingml/2006/main">
            <a:r>
              <a:t/>
            </a:r>
          </a:p>
          <a:p xmlns:a="http://schemas.openxmlformats.org/drawingml/2006/main">
            <a:r>
              <a:t>SOURCES</a:t>
            </a:r>
          </a:p>
          <a:p xmlns:a="http://schemas.openxmlformats.org/drawingml/2006/main">
            <a:r>
              <a:t>MMWL overview by member club Predators Wrestling</a:t>
            </a:r>
          </a:p>
          <a:p xmlns:a="http://schemas.openxmlformats.org/drawingml/2006/main">
            <a:r>
              <a:t>https://www.predatorswrestling.com/about-us/leagues/mid-maryland-wrestling-league</a:t>
            </a:r>
          </a:p>
          <a:p xmlns:a="http://schemas.openxmlformats.org/drawingml/2006/main">
            <a:r>
              <a:t>Scope: Corroborating local description, not a league-issued current rulebook</a:t>
            </a:r>
          </a:p>
          <a:p xmlns:a="http://schemas.openxmlformats.org/drawingml/2006/main">
            <a:r>
              <a:t/>
            </a:r>
          </a:p>
          <a:p xmlns:a="http://schemas.openxmlformats.org/drawingml/2006/main">
            <a:r>
              <a:t>CDC, Athletes: MRSA Prevention and Control</a:t>
            </a:r>
          </a:p>
          <a:p xmlns:a="http://schemas.openxmlformats.org/drawingml/2006/main">
            <a:r>
              <a:t>https://www.cdc.gov/mrsa/prevention/athletes.html</a:t>
            </a:r>
          </a:p>
          <a:p xmlns:a="http://schemas.openxmlformats.org/drawingml/2006/main">
            <a:r>
              <a:t>Scope: Hygiene and reporting possible skin infection</a:t>
            </a:r>
          </a:p>
          <a:p xmlns:a="http://schemas.openxmlformats.org/drawingml/2006/main">
            <a:r>
              <a:t/>
            </a:r>
          </a:p>
          <a:p xmlns:a="http://schemas.openxmlformats.org/drawingml/2006/main">
            <a:r>
              <a:t>CDC HEADS UP, Responding to a Sports-related Concussion</a:t>
            </a:r>
          </a:p>
          <a:p xmlns:a="http://schemas.openxmlformats.org/drawingml/2006/main">
            <a:r>
              <a:t>https://www.cdc.gov/heads-up/response/index.html</a:t>
            </a:r>
          </a:p>
          <a:p xmlns:a="http://schemas.openxmlformats.org/drawingml/2006/main">
            <a:r>
              <a:t>Scope: Removal, no same-day return and healthcare clearance</a:t>
            </a:r>
          </a:p>
          <a:p xmlns:a="http://schemas.openxmlformats.org/drawingml/2006/main">
            <a:r>
              <a:t/>
            </a:r>
          </a:p>
          <a:p xmlns:a="http://schemas.openxmlformats.org/drawingml/2006/main">
            <a:r>
              <a:t>American Academy of Pediatrics, Wrestling</a:t>
            </a:r>
          </a:p>
          <a:p xmlns:a="http://schemas.openxmlformats.org/drawingml/2006/main">
            <a:r>
              <a:t>https://www.healthychildren.org/English/healthy-living/sports/Pages/Wrestling.aspx</a:t>
            </a:r>
          </a:p>
          <a:p xmlns:a="http://schemas.openxmlformats.org/drawingml/2006/main">
            <a:r>
              <a:t>Scope: Risks of rapid weight loss and dehydration in growing athletes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8:20–9:15 | 55 seconds</a:t>
            </a:r>
          </a:p>
          <a:p xmlns:a="http://schemas.openxmlformats.org/drawingml/2006/main">
            <a:r>
              <a:t/>
            </a:r>
          </a:p>
          <a:p xmlns:a="http://schemas.openxmlformats.org/drawingml/2006/main">
            <a:r>
              <a:t>Our code of conduct asks us to support both wrestlers and respect officials and volunteers. Cheer effort and let your child hear the coach. Please stay in the spectator area unless your child is wrestling or on deck, meaning next to wrestle. Even then, follow the host's access rules. Use only the allowed viewing area, keep the mat and walkways clear, and return to the spectator area after the match. Let your coach handle scoring questions. Discuss disagreements with coaches at an agreed time and place. If your child is upset, offer comfort and talk when they are ready. Try: I loved watching you wrestle. The code of conduct has the full expectations for families and guests.</a:t>
            </a:r>
          </a:p>
          <a:p xmlns:a="http://schemas.openxmlformats.org/drawingml/2006/main">
            <a:r>
              <a:t/>
            </a:r>
          </a:p>
          <a:p xmlns:a="http://schemas.openxmlformats.org/drawingml/2006/main">
            <a:r>
              <a:t>SOURCES</a:t>
            </a:r>
          </a:p>
          <a:p xmlns:a="http://schemas.openxmlformats.org/drawingml/2006/main">
            <a:r>
              <a:t>USA Wrestling, 5 Ways to be a Better Wrestling Parent</a:t>
            </a:r>
          </a:p>
          <a:p xmlns:a="http://schemas.openxmlformats.org/drawingml/2006/main">
            <a:r>
              <a:t>https://www.themat.com/news/2018/august/16/5-ways-to-be-a-better-wrestling-parent</a:t>
            </a:r>
          </a:p>
          <a:p xmlns:a="http://schemas.openxmlformats.org/drawingml/2006/main">
            <a:r>
              <a:t>Scope: Parent support and long-term development</a:t>
            </a:r>
          </a:p>
          <a:p xmlns:a="http://schemas.openxmlformats.org/drawingml/2006/main">
            <a:r>
              <a:t/>
            </a:r>
          </a:p>
          <a:p xmlns:a="http://schemas.openxmlformats.org/drawingml/2006/main">
            <a:r>
              <a:t>USA Wrestling, 10 Factors for Athlete Development</a:t>
            </a:r>
          </a:p>
          <a:p xmlns:a="http://schemas.openxmlformats.org/drawingml/2006/main">
            <a:r>
              <a:t>https://www.themat.com/news/2019/march/28/10-factors-for-athlete-development</a:t>
            </a:r>
          </a:p>
          <a:p xmlns:a="http://schemas.openxmlformats.org/drawingml/2006/main">
            <a:r>
              <a:t>Scope: Learning and development over early results</a:t>
            </a:r>
          </a:p>
          <a:p xmlns:a="http://schemas.openxmlformats.org/drawingml/2006/main">
            <a:r>
              <a:t/>
            </a:r>
          </a:p>
          <a:p xmlns:a="http://schemas.openxmlformats.org/drawingml/2006/main">
            <a:r>
              <a:t>Grindstone Wrestling Club</a:t>
            </a:r>
          </a:p>
          <a:p xmlns:a="http://schemas.openxmlformats.org/drawingml/2006/main">
            <a:r>
              <a:t>https://www.grindstonewrestling.org/</a:t>
            </a:r>
          </a:p>
          <a:p xmlns:a="http://schemas.openxmlformats.org/drawingml/2006/main">
            <a:r>
              <a:t>Scope: Program relationship, team names and development philosophy</a:t>
            </a:r>
          </a:p>
          <a:p xmlns:a="http://schemas.openxmlformats.org/drawingml/2006/main">
            <a:r>
              <a:t/>
            </a:r>
          </a:p>
          <a:p xmlns:a="http://schemas.openxmlformats.org/drawingml/2006/main">
            <a:r>
              <a:t>Carroll County Good Sportsmanship Policy/Code of Conduct</a:t>
            </a:r>
          </a:p>
          <a:p xmlns:a="http://schemas.openxmlformats.org/drawingml/2006/main">
            <a:r>
              <a:t>https://www.carrollcountymd.gov/media/17339/good_sportsmanship_policy_interactive_2023.pdf</a:t>
            </a:r>
          </a:p>
          <a:p xmlns:a="http://schemas.openxmlformats.org/drawingml/2006/main">
            <a:r>
              <a:t>Scope: Applies to Recreation Council programs, parents and guests; positive support, respect, leaving coaching to coaches and arranging a time and place for disagreements. Matside timing is separate organizer-requested guidance.</a:t>
            </a:r>
          </a:p>
          <a:p xmlns:a="http://schemas.openxmlformats.org/drawingml/2006/main">
            <a:r>
              <a:t/>
            </a:r>
          </a:p>
          <a:p xmlns:a="http://schemas.openxmlformats.org/drawingml/2006/main">
            <a:r>
              <a:t>USA Wrestling — Coaching From the Stands</a:t>
            </a:r>
          </a:p>
          <a:p xmlns:a="http://schemas.openxmlformats.org/drawingml/2006/main">
            <a:r>
              <a:t>https://www.themat.com/news/2018/march/01/coaching-from-the-stands</a:t>
            </a:r>
          </a:p>
          <a:p xmlns:a="http://schemas.openxmlformats.org/drawingml/2006/main">
            <a:r>
              <a:t>Scope: Parent role and positive support; advisory feature, not a binding matside-access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9:15–10:00 | 45 seconds</a:t>
            </a:r>
          </a:p>
          <a:p xmlns:a="http://schemas.openxmlformats.org/drawingml/2006/main">
            <a:r>
              <a:t/>
            </a:r>
          </a:p>
          <a:p xmlns:a="http://schemas.openxmlformats.org/drawingml/2006/main">
            <a:r>
              <a:t>Remember three for a takedown, one for an escape and two for a reversal. A pin ends the match. The handout includes the FAQ, common penalties and optional Grindstone and USA Wrestling links. Know your child’s mat, coach and check-in instructions. These scoring basics apply to folkstyle; ask for a separate briefing at a freestyle event. Encourage learning and effort so your child wants to return. Let’s take questions.</a:t>
            </a:r>
          </a:p>
          <a:p xmlns:a="http://schemas.openxmlformats.org/drawingml/2006/main">
            <a:r>
              <a:t/>
            </a:r>
          </a:p>
          <a:p xmlns:a="http://schemas.openxmlformats.org/drawingml/2006/main">
            <a:r>
              <a:t>SOURCES</a:t>
            </a:r>
          </a:p>
          <a:p xmlns:a="http://schemas.openxmlformats.org/drawingml/2006/main">
            <a:r>
              <a:t>NFHS Wrestling Rules Changes 2024–25</a:t>
            </a:r>
          </a:p>
          <a:p xmlns:a="http://schemas.openxmlformats.org/drawingml/2006/main">
            <a:r>
              <a:t>https://www.nfhs.org/resources/sports/wrestling-rules-changes-2024-25</a:t>
            </a:r>
          </a:p>
          <a:p xmlns:a="http://schemas.openxmlformats.org/drawingml/2006/main">
            <a:r>
              <a:t>Scope: Three-point takedown and two-, three-, four-point near fall</a:t>
            </a:r>
          </a:p>
          <a:p xmlns:a="http://schemas.openxmlformats.org/drawingml/2006/main">
            <a:r>
              <a:t/>
            </a:r>
          </a:p>
          <a:p xmlns:a="http://schemas.openxmlformats.org/drawingml/2006/main">
            <a:r>
              <a:t>Grindstone Mat Rats program</a:t>
            </a:r>
          </a:p>
          <a:p xmlns:a="http://schemas.openxmlformats.org/drawingml/2006/main">
            <a:r>
              <a:t>https://www.grindstonewrestling.org/mat-rats</a:t>
            </a:r>
          </a:p>
          <a:p xmlns:a="http://schemas.openxmlformats.org/drawingml/2006/main">
            <a:r>
              <a:t>Scope: Folkstyle, ages, Pups clinic, MMWL participation</a:t>
            </a:r>
          </a:p>
          <a:p xmlns:a="http://schemas.openxmlformats.org/drawingml/2006/main">
            <a:r>
              <a:t/>
            </a:r>
          </a:p>
          <a:p xmlns:a="http://schemas.openxmlformats.org/drawingml/2006/main">
            <a:r>
              <a:t>Grindstone Valkyries program</a:t>
            </a:r>
          </a:p>
          <a:p xmlns:a="http://schemas.openxmlformats.org/drawingml/2006/main">
            <a:r>
              <a:t>https://www.grindstonewrestling.org/copy-of-mat-rats</a:t>
            </a:r>
          </a:p>
          <a:p xmlns:a="http://schemas.openxmlformats.org/drawingml/2006/main">
            <a:r>
              <a:t>Scope: Girls program, optional competitions and event requirements</a:t>
            </a:r>
          </a:p>
          <a:p xmlns:a="http://schemas.openxmlformats.org/drawingml/2006/main">
            <a:r>
              <a:t/>
            </a:r>
          </a:p>
          <a:p xmlns:a="http://schemas.openxmlformats.org/drawingml/2006/main">
            <a:r>
              <a:t>NFHS Wrestling Rules Book 2024–25, definitions and individual scoring</a:t>
            </a:r>
          </a:p>
          <a:p xmlns:a="http://schemas.openxmlformats.org/drawingml/2006/main">
            <a:r>
              <a:t>https://www.utahwrestling.org/NFHSWrestlingRuleBook24_25.pdf</a:t>
            </a:r>
          </a:p>
          <a:p xmlns:a="http://schemas.openxmlformats.org/drawingml/2006/main">
            <a:r>
              <a:t>Scope: Rules 5 and 9-1: control, escape, reversal and scoring. Checked against 2025–26 and 2026–27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Q&amp;A / REFERENCE</a:t>
            </a:r>
          </a:p>
          <a:p xmlns:a="http://schemas.openxmlformats.org/drawingml/2006/main">
            <a:r>
              <a:t/>
            </a:r>
          </a:p>
          <a:p xmlns:a="http://schemas.openxmlformats.org/drawingml/2006/main">
            <a:r>
              <a:t>Q&amp;A begins here. Use the handout and optional backup slides as needed.</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Q&amp;A / REFERENCE</a:t>
            </a:r>
          </a:p>
          <a:p xmlns:a="http://schemas.openxmlformats.org/drawingml/2006/main">
            <a:r>
              <a:t/>
            </a:r>
          </a:p>
          <a:p xmlns:a="http://schemas.openxmlformats.org/drawingml/2006/main">
            <a:r>
              <a:t>Optional answer only. Match points determine the individual score. In a standard NFHS dual meet, the result then contributes team points using this table. A pin is not six individual match points. Tournament team scoring follows a different system. Do not assume a regular MMWL event uses this team table.</a:t>
            </a:r>
          </a:p>
          <a:p xmlns:a="http://schemas.openxmlformats.org/drawingml/2006/main">
            <a:r>
              <a:t/>
            </a:r>
          </a:p>
          <a:p xmlns:a="http://schemas.openxmlformats.org/drawingml/2006/main">
            <a:r>
              <a:t>SOURCES</a:t>
            </a:r>
          </a:p>
          <a:p xmlns:a="http://schemas.openxmlformats.org/drawingml/2006/main">
            <a:r>
              <a:t>NFHS Wrestling Rules Book 2024–25, hosted by Utah USA Wrestling</a:t>
            </a:r>
          </a:p>
          <a:p xmlns:a="http://schemas.openxmlformats.org/drawingml/2006/main">
            <a:r>
              <a:t>https://www.utahwrestling.org/NFHSWrestlingRuleBook24_25.pdf</a:t>
            </a:r>
          </a:p>
          <a:p xmlns:a="http://schemas.openxmlformats.org/drawingml/2006/main">
            <a:r>
              <a:t>Scope: Rule 9-2, printed page 50: standard NFHS dual scoring. Read alongside official 2025–26 and 2026–27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Q&amp;A / REFERENCE</a:t>
            </a:r>
          </a:p>
          <a:p xmlns:a="http://schemas.openxmlformats.org/drawingml/2006/main">
            <a:r>
              <a:t/>
            </a:r>
          </a:p>
          <a:p xmlns:a="http://schemas.openxmlformats.org/drawingml/2006/main">
            <a:r>
              <a:t>Optional resource slide. These official resources informed the orientation. The current USA Wrestling rule book's section 25 on folkstyle adopts NFHS rules with modifications; most of the book covers freestyle and Greco-Roman, so use the folkstyle section for this session.</a:t>
            </a:r>
          </a:p>
          <a:p xmlns:a="http://schemas.openxmlformats.org/drawingml/2006/main">
            <a:r>
              <a:t/>
            </a:r>
          </a:p>
          <a:p xmlns:a="http://schemas.openxmlformats.org/drawingml/2006/main">
            <a:r>
              <a:t>SOURCES</a:t>
            </a:r>
          </a:p>
          <a:p xmlns:a="http://schemas.openxmlformats.org/drawingml/2006/main">
            <a:r>
              <a:t>USA Wrestling Rule Book, section 25: folkstyle</a:t>
            </a:r>
          </a:p>
          <a:p xmlns:a="http://schemas.openxmlformats.org/drawingml/2006/main">
            <a:r>
              <a:t>https://www.usawmembership.com/usa_wrestling_rule_book</a:t>
            </a:r>
          </a:p>
          <a:p xmlns:a="http://schemas.openxmlformats.org/drawingml/2006/main">
            <a:r>
              <a:t>Scope: NFHS rule foundation and USA Wrestling event modifications</a:t>
            </a:r>
          </a:p>
          <a:p xmlns:a="http://schemas.openxmlformats.org/drawingml/2006/main">
            <a:r>
              <a:t/>
            </a:r>
          </a:p>
          <a:p xmlns:a="http://schemas.openxmlformats.org/drawingml/2006/main">
            <a:r>
              <a:t>USA Wrestling Core Curriculum, Folkstyle Level 1</a:t>
            </a:r>
          </a:p>
          <a:p xmlns:a="http://schemas.openxmlformats.org/drawingml/2006/main">
            <a:r>
              <a:t>https://www.usawmembership.com/usa_wrestling_core_curriculum/1</a:t>
            </a:r>
          </a:p>
          <a:p xmlns:a="http://schemas.openxmlformats.org/drawingml/2006/main">
            <a:r>
              <a:t>Scope: Neutral, referee's position and top position; optional position references</a:t>
            </a:r>
          </a:p>
          <a:p xmlns:a="http://schemas.openxmlformats.org/drawingml/2006/main">
            <a:r>
              <a:t/>
            </a:r>
          </a:p>
          <a:p xmlns:a="http://schemas.openxmlformats.org/drawingml/2006/main">
            <a:r>
              <a:t>USA Wrestling, 5 Ways to be a Better Wrestling Parent</a:t>
            </a:r>
          </a:p>
          <a:p xmlns:a="http://schemas.openxmlformats.org/drawingml/2006/main">
            <a:r>
              <a:t>https://www.themat.com/news/2018/august/16/5-ways-to-be-a-better-wrestling-parent</a:t>
            </a:r>
          </a:p>
          <a:p xmlns:a="http://schemas.openxmlformats.org/drawingml/2006/main">
            <a:r>
              <a:t>Scope: Parent support and long-term development</a:t>
            </a:r>
          </a:p>
          <a:p xmlns:a="http://schemas.openxmlformats.org/drawingml/2006/main">
            <a:r>
              <a:t/>
            </a:r>
          </a:p>
          <a:p xmlns:a="http://schemas.openxmlformats.org/drawingml/2006/main">
            <a:r>
              <a:t>USA Wrestling, 10 Factors for Athlete Development</a:t>
            </a:r>
          </a:p>
          <a:p xmlns:a="http://schemas.openxmlformats.org/drawingml/2006/main">
            <a:r>
              <a:t>https://www.themat.com/news/2019/march/28/10-factors-for-athlete-development</a:t>
            </a:r>
          </a:p>
          <a:p xmlns:a="http://schemas.openxmlformats.org/drawingml/2006/main">
            <a:r>
              <a:t>Scope: Learning and development over early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Q&amp;A / REFERENCE</a:t>
            </a:r>
          </a:p>
          <a:p xmlns:a="http://schemas.openxmlformats.org/drawingml/2006/main">
            <a:r>
              <a:t/>
            </a:r>
          </a:p>
          <a:p xmlns:a="http://schemas.openxmlformats.org/drawingml/2006/main">
            <a:r>
              <a:t>Optional resource slide. Public club pages establish team details. The MMWL overview is a member-club description, not a league-issued 2026–27 rule book. Confirm event-specific procedures with the coach. The presenter source notes include the complete evidence list and scope of each source.</a:t>
            </a:r>
          </a:p>
          <a:p xmlns:a="http://schemas.openxmlformats.org/drawingml/2006/main">
            <a:r>
              <a:t/>
            </a:r>
          </a:p>
          <a:p xmlns:a="http://schemas.openxmlformats.org/drawingml/2006/main">
            <a:r>
              <a:t>SOURCES</a:t>
            </a:r>
          </a:p>
          <a:p xmlns:a="http://schemas.openxmlformats.org/drawingml/2006/main">
            <a:r>
              <a:t>Grindstone Mat Rats program</a:t>
            </a:r>
          </a:p>
          <a:p xmlns:a="http://schemas.openxmlformats.org/drawingml/2006/main">
            <a:r>
              <a:t>https://www.grindstonewrestling.org/mat-rats</a:t>
            </a:r>
          </a:p>
          <a:p xmlns:a="http://schemas.openxmlformats.org/drawingml/2006/main">
            <a:r>
              <a:t>Scope: Folkstyle, ages, Pups clinic, MMWL participation</a:t>
            </a:r>
          </a:p>
          <a:p xmlns:a="http://schemas.openxmlformats.org/drawingml/2006/main">
            <a:r>
              <a:t/>
            </a:r>
          </a:p>
          <a:p xmlns:a="http://schemas.openxmlformats.org/drawingml/2006/main">
            <a:r>
              <a:t>Grindstone Valkyries program</a:t>
            </a:r>
          </a:p>
          <a:p xmlns:a="http://schemas.openxmlformats.org/drawingml/2006/main">
            <a:r>
              <a:t>https://www.grindstonewrestling.org/copy-of-mat-rats</a:t>
            </a:r>
          </a:p>
          <a:p xmlns:a="http://schemas.openxmlformats.org/drawingml/2006/main">
            <a:r>
              <a:t>Scope: Girls program, optional competitions and event requirements</a:t>
            </a:r>
          </a:p>
          <a:p xmlns:a="http://schemas.openxmlformats.org/drawingml/2006/main">
            <a:r>
              <a:t/>
            </a:r>
          </a:p>
          <a:p xmlns:a="http://schemas.openxmlformats.org/drawingml/2006/main">
            <a:r>
              <a:t>MMWL overview by member club Predators Wrestling</a:t>
            </a:r>
          </a:p>
          <a:p xmlns:a="http://schemas.openxmlformats.org/drawingml/2006/main">
            <a:r>
              <a:t>https://www.predatorswrestling.com/about-us/leagues/mid-maryland-wrestling-league</a:t>
            </a:r>
          </a:p>
          <a:p xmlns:a="http://schemas.openxmlformats.org/drawingml/2006/main">
            <a:r>
              <a:t>Scope: Corroborating local description, not a league-issued current rulebook</a:t>
            </a:r>
          </a:p>
          <a:p xmlns:a="http://schemas.openxmlformats.org/drawingml/2006/main">
            <a:r>
              <a:t/>
            </a:r>
          </a:p>
          <a:p xmlns:a="http://schemas.openxmlformats.org/drawingml/2006/main">
            <a:r>
              <a:t>NFHS Wrestling Rules Changes 2026–27</a:t>
            </a:r>
          </a:p>
          <a:p xmlns:a="http://schemas.openxmlformats.org/drawingml/2006/main">
            <a:r>
              <a:t>https://www.nfhs.org/sports/wrestling/rules</a:t>
            </a:r>
          </a:p>
          <a:p xmlns:a="http://schemas.openxmlformats.org/drawingml/2006/main">
            <a:r>
              <a:t>Scope: Current-season changes and scoring continuity</a:t>
            </a:r>
          </a:p>
          <a:p xmlns:a="http://schemas.openxmlformats.org/drawingml/2006/main">
            <a:r>
              <a:t/>
            </a:r>
          </a:p>
          <a:p xmlns:a="http://schemas.openxmlformats.org/drawingml/2006/main">
            <a:r>
              <a:t>CDC, Athletes: MRSA Prevention and Control</a:t>
            </a:r>
          </a:p>
          <a:p xmlns:a="http://schemas.openxmlformats.org/drawingml/2006/main">
            <a:r>
              <a:t>https://www.cdc.gov/mrsa/prevention/athletes.html</a:t>
            </a:r>
          </a:p>
          <a:p xmlns:a="http://schemas.openxmlformats.org/drawingml/2006/main">
            <a:r>
              <a:t>Scope: Hygiene and reporting possible skin infection</a:t>
            </a:r>
          </a:p>
          <a:p xmlns:a="http://schemas.openxmlformats.org/drawingml/2006/main">
            <a:r>
              <a:t/>
            </a:r>
          </a:p>
          <a:p xmlns:a="http://schemas.openxmlformats.org/drawingml/2006/main">
            <a:r>
              <a:t>CDC HEADS UP, Responding to a Sports-related Concussion</a:t>
            </a:r>
          </a:p>
          <a:p xmlns:a="http://schemas.openxmlformats.org/drawingml/2006/main">
            <a:r>
              <a:t>https://www.cdc.gov/heads-up/response/index.html</a:t>
            </a:r>
          </a:p>
          <a:p xmlns:a="http://schemas.openxmlformats.org/drawingml/2006/main">
            <a:r>
              <a:t>Scope: Removal, no same-day return and healthcare clearance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Q&amp;A / REFERENCE</a:t>
            </a:r>
          </a:p>
          <a:p xmlns:a="http://schemas.openxmlformats.org/drawingml/2006/main">
            <a:r>
              <a:t/>
            </a:r>
          </a:p>
          <a:p xmlns:a="http://schemas.openxmlformats.org/drawingml/2006/main">
            <a:r>
              <a:t>Optional explanation after the main talk. Penalty points are added to the opponent’s score. Cautions and warnings may leave the score unchanged. These are standard NFHS folkstyle rules; ask the coach about any youth or event modifications. False starts and starting position. Moving before the whistle or lining up incorrectly for a restart. These share two cautions per wrestler per match; each later infraction gives the opponent 1 point. Stalling. Not making an honest effort to wrestle, such as avoiding action. It has its own sequence: warning, 1 point, 1 point, 2 points, then disqualification. Being behind or getting stuck is not automatically stalling. Locked hands. From top, illegally locking or overlapping hands or arms around the opponent’s body or both legs. Standing, lifting and near-fall exceptions apply; the referee judges the position. Grabbing gear and other technical violations. Grabbing the singlet or headgear is prohibited. Going or forcing an opponent out to avoid imminent scoring can be the technical violation of fleeing the mat; an ordinary boundary restart is different. Illegal holds. A prohibited hold or force beyond a joint’s normal range, such as a full nelson. A referee can stop a potentially dangerous position before it becomes illegal without awarding a penalty point. Unnecessary roughness and unsportsmanlike conduct. Examples include unnecessary force, taunting or abusive behavior by a wrestler during the match. A serious act of flagrant misconduct can cause immediate disqualification. Locked hands, gear-grabbing and other technical violations, illegal holds, unnecessary roughness and wrestler unsportsmanlike conduct during the match share one cumulative sequence: 1 point, 1 point, 2 points, then disqualification (loss of the match). There is no initial warning in this sequence. Switching to a different violation does not restart the count. Stalling and starting cautions are counted separately, as above. A normal out-of-bounds restart, stalemate or safety stop can carry no penalty points. In neutral, the referee distinguishes ordinary boundary action from stalling such as backing out or pushing or pulling an opponent out to avoid wrestling. Watch the referee and scoreboard; let your coach handle questions.</a:t>
            </a:r>
          </a:p>
          <a:p xmlns:a="http://schemas.openxmlformats.org/drawingml/2006/main">
            <a:r>
              <a:t/>
            </a:r>
          </a:p>
          <a:p xmlns:a="http://schemas.openxmlformats.org/drawingml/2006/main">
            <a:r>
              <a:t>SOURCES</a:t>
            </a:r>
          </a:p>
          <a:p xmlns:a="http://schemas.openxmlformats.org/drawingml/2006/main">
            <a:r>
              <a:t>USA Wrestling Rule Book, section 25: folkstyle</a:t>
            </a:r>
          </a:p>
          <a:p xmlns:a="http://schemas.openxmlformats.org/drawingml/2006/main">
            <a:r>
              <a:t>https://www.usawmembership.com/usa_wrestling_rule_book</a:t>
            </a:r>
          </a:p>
          <a:p xmlns:a="http://schemas.openxmlformats.org/drawingml/2006/main">
            <a:r>
              <a:t>Scope: NFHS rule foundation and USA Wrestling event modifications</a:t>
            </a:r>
          </a:p>
          <a:p xmlns:a="http://schemas.openxmlformats.org/drawingml/2006/main">
            <a:r>
              <a:t/>
            </a:r>
          </a:p>
          <a:p xmlns:a="http://schemas.openxmlformats.org/drawingml/2006/main">
            <a:r>
              <a:t>NFHS penalty rules and charts, 2024–25 book with later changes</a:t>
            </a:r>
          </a:p>
          <a:p xmlns:a="http://schemas.openxmlformats.org/drawingml/2006/main">
            <a:r>
              <a:t>https://www.utahwrestling.org/NFHSWrestlingRuleBook24_25.pdf</a:t>
            </a:r>
          </a:p>
          <a:p xmlns:a="http://schemas.openxmlformats.org/drawingml/2006/main">
            <a:r>
              <a:t>Scope: Rules 5, 7 and 8; printed pages 44–45 penalty charts. Starting cautions, stalling and the shared match-penalty sequence are separate. Checked with official 2025–26 and 2026–27 changes.</a:t>
            </a:r>
          </a:p>
          <a:p xmlns:a="http://schemas.openxmlformats.org/drawingml/2006/main">
            <a:r>
              <a:t/>
            </a:r>
          </a:p>
          <a:p xmlns:a="http://schemas.openxmlformats.org/drawingml/2006/main">
            <a:r>
              <a:t>NFHS Wrestling Rules Changes 2026–27</a:t>
            </a:r>
          </a:p>
          <a:p xmlns:a="http://schemas.openxmlformats.org/drawingml/2006/main">
            <a:r>
              <a:t>https://www.nfhs.org/sports/wrestling/rules</a:t>
            </a:r>
          </a:p>
          <a:p xmlns:a="http://schemas.openxmlformats.org/drawingml/2006/main">
            <a:r>
              <a:t>Scope: Current-season changes and scoring continuity</a:t>
            </a:r>
          </a:p>
          <a:p xmlns:a="http://schemas.openxmlformats.org/drawingml/2006/main">
            <a:r>
              <a:t/>
            </a:r>
          </a:p>
          <a:p xmlns:a="http://schemas.openxmlformats.org/drawingml/2006/main">
            <a:r>
              <a:t>NFHS Wrestling Comments on the Rules 2026–27</a:t>
            </a:r>
          </a:p>
          <a:p xmlns:a="http://schemas.openxmlformats.org/drawingml/2006/main">
            <a:r>
              <a:t>https://www.nfhs.org/resources/sports/wrestling-comments-on-the-rules-2026-27</a:t>
            </a:r>
          </a:p>
          <a:p xmlns:a="http://schemas.openxmlformats.org/drawingml/2006/main">
            <a:r>
              <a:t>Scope: Current stalling and neutral boundary clarification; a normal boundary stop does not automatically mean a penalty.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4c81c1964845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78b537246943b7" /><Relationship Type="http://schemas.openxmlformats.org/officeDocument/2006/relationships/slideLayout" Target="/ppt/slideLayouts/slideLayout1.xml" Id="R16cb906905d04a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cb906905d04a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b35bb89584748b1" /><Relationship Type="http://schemas.openxmlformats.org/officeDocument/2006/relationships/image" Target="/ppt/media/image.png" Id="Rd78c03459f7d4ee7" /><Relationship Type="http://schemas.openxmlformats.org/officeDocument/2006/relationships/notesSlide" Target="/ppt/notesSlides/notesSlide1.xml" Id="R2441a43fd43c40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a82d8c7f31495f" /><Relationship Type="http://schemas.openxmlformats.org/officeDocument/2006/relationships/notesSlide" Target="/ppt/notesSlides/notesSlide2.xml" Id="R77695e0c028146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a3c9c128ae4d1d" /><Relationship Type="http://schemas.openxmlformats.org/officeDocument/2006/relationships/image" Target="/ppt/media/image.jpeg" Id="Ra7eaa4709e4c4678" /><Relationship Type="http://schemas.openxmlformats.org/officeDocument/2006/relationships/image" Target="/ppt/media/image2.jpeg" Id="R32b0459d5fb4470d" /><Relationship Type="http://schemas.openxmlformats.org/officeDocument/2006/relationships/image" Target="/ppt/media/image3.jpeg" Id="R3036d522c42c4890" /><Relationship Type="http://schemas.openxmlformats.org/officeDocument/2006/relationships/notesSlide" Target="/ppt/notesSlides/notesSlide3.xml" Id="Rdee91528643241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3aa02983c14f05" /><Relationship Type="http://schemas.openxmlformats.org/officeDocument/2006/relationships/notesSlide" Target="/ppt/notesSlides/notesSlide4.xml" Id="Rc2a26b3c17c243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23a8293cf241e1" /><Relationship Type="http://schemas.openxmlformats.org/officeDocument/2006/relationships/notesSlide" Target="/ppt/notesSlides/notesSlide5.xml" Id="R8fd7393332804e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aef0d85dda947f3" /><Relationship Type="http://schemas.openxmlformats.org/officeDocument/2006/relationships/notesSlide" Target="/ppt/notesSlides/notesSlide6.xml" Id="Rb35f362c6a9a4d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5871d7ecd94145" /><Relationship Type="http://schemas.openxmlformats.org/officeDocument/2006/relationships/notesSlide" Target="/ppt/notesSlides/notesSlide7.xml" Id="R0b986e0cba3442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10b6fad48104316" /><Relationship Type="http://schemas.openxmlformats.org/officeDocument/2006/relationships/notesSlide" Target="/ppt/notesSlides/notesSlide8.xml" Id="R35a8dd3c8e2f46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d90c480b63e44ef" /><Relationship Type="http://schemas.openxmlformats.org/officeDocument/2006/relationships/notesSlide" Target="/ppt/notesSlides/notesSlide9.xml" Id="R3bcc0665412e49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d8d54f8de2842fb" /><Relationship Type="http://schemas.openxmlformats.org/officeDocument/2006/relationships/notesSlide" Target="/ppt/notesSlides/notesSlide10.xml" Id="R53d2142367b547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167580623044373" /><Relationship Type="http://schemas.openxmlformats.org/officeDocument/2006/relationships/notesSlide" Target="/ppt/notesSlides/notesSlide11.xml" Id="R6d860b3fe1b14d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3215658700349dc" /><Relationship Type="http://schemas.openxmlformats.org/officeDocument/2006/relationships/notesSlide" Target="/ppt/notesSlides/notesSlide12.xml" Id="R69c7500247994c8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78968abc8524290" /><Relationship Type="http://schemas.openxmlformats.org/officeDocument/2006/relationships/notesSlide" Target="/ppt/notesSlides/notesSlide13.xml" Id="R72a00035470046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5fd0a4f2db84f88" /><Relationship Type="http://schemas.openxmlformats.org/officeDocument/2006/relationships/hyperlink" Target="https://www.usawmembership.com/usa_wrestling_rule_book" TargetMode="External" Id="R6b9e0b8def974b9b" /><Relationship Type="http://schemas.openxmlformats.org/officeDocument/2006/relationships/hyperlink" Target="https://www.usawmembership.com/usa_wrestling_core_curriculum/1" TargetMode="External" Id="Rfd76373078aa4c20" /><Relationship Type="http://schemas.openxmlformats.org/officeDocument/2006/relationships/hyperlink" Target="https://www.themat.com/news/2018/august/16/5-ways-to-be-a-better-wrestling-parent" TargetMode="External" Id="Ra3b770f0c5de4f0f" /><Relationship Type="http://schemas.openxmlformats.org/officeDocument/2006/relationships/hyperlink" Target="https://www.themat.com/news/2019/march/28/10-factors-for-athlete-development" TargetMode="External" Id="Rcf8b6a013cef4365" /><Relationship Type="http://schemas.openxmlformats.org/officeDocument/2006/relationships/notesSlide" Target="/ppt/notesSlides/notesSlide14.xml" Id="R62e5f40258784c8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9b55da5e6384d2c" /><Relationship Type="http://schemas.openxmlformats.org/officeDocument/2006/relationships/hyperlink" Target="https://www.grindstonewrestling.org/mat-rats" TargetMode="External" Id="R86d4e73051e24328" /><Relationship Type="http://schemas.openxmlformats.org/officeDocument/2006/relationships/hyperlink" Target="https://www.grindstonewrestling.org/copy-of-mat-rats" TargetMode="External" Id="Ra7b10403cbf84c45" /><Relationship Type="http://schemas.openxmlformats.org/officeDocument/2006/relationships/hyperlink" Target="https://www.predatorswrestling.com/about-us/leagues/mid-maryland-wrestling-league" TargetMode="External" Id="Rea92a085db73424e" /><Relationship Type="http://schemas.openxmlformats.org/officeDocument/2006/relationships/hyperlink" Target="https://www.nfhs.org/sports/wrestling/rules" TargetMode="External" Id="R5d547aba18174201" /><Relationship Type="http://schemas.openxmlformats.org/officeDocument/2006/relationships/hyperlink" Target="https://www.cdc.gov/mrsa/prevention/athletes.html" TargetMode="External" Id="R79ec0d9510fc4a4e" /><Relationship Type="http://schemas.openxmlformats.org/officeDocument/2006/relationships/hyperlink" Target="https://www.cdc.gov/heads-up/response/index.html" TargetMode="External" Id="R668abb13d6894d7f" /><Relationship Type="http://schemas.openxmlformats.org/officeDocument/2006/relationships/notesSlide" Target="/ppt/notesSlides/notesSlide15.xml" Id="R278228de45d8487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e4a55d94b2947f3" /><Relationship Type="http://schemas.openxmlformats.org/officeDocument/2006/relationships/notesSlide" Target="/ppt/notesSlides/notesSlide16.xml" Id="Rd56bf95b4bc74c2a" /></Relationships>
</file>

<file path=ppt/slides/slide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27E75E-33CD-42EF-9523-C274BBF3496D}"/>
              </a:ext>
            </a:extLst>
          </p:cNvPr>
          <p:cNvSpPr>
            <a:spLocks xmlns:a="http://schemas.openxmlformats.org/drawingml/2006/main" noGrp="1"/>
          </p:cNvSpPr>
          <p:nvPr/>
        </p:nvSpPr>
        <p:spPr>
          <a:xfrm xmlns:a="http://schemas.openxmlformats.org/drawingml/2006/main">
            <a:off x="11239500" y="6305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86177"/>
                </a:solidFill>
                <a:latin typeface="Lato"/>
                <a:ea typeface="Lato"/>
                <a:cs typeface="Lato"/>
              </a:defRPr>
            </a:pPr>
            <a:r>
              <a:rPr sz="1350" b="0">
                <a:solidFill>
                  <a:srgbClr val="486177"/>
                </a:solidFill>
                <a:latin typeface="Lato"/>
                <a:ea typeface="Lato"/>
                <a:cs typeface="Lato"/>
              </a:rPr>
              <a:t>01</a:t>
            </a:r>
          </a:p>
        </p:txBody>
      </p:sp>
      <p:sp>
        <p:nvSpPr>
          <p:cNvPr id="2" name="">
            <a:extLst xmlns:a="http://schemas.openxmlformats.org/drawingml/2006/main">
              <a:ext uri="{FF2B5EF4-FFF2-40B4-BE49-F238E27FC236}">
                <a16:creationId xmlns:a16="http://schemas.microsoft.com/office/drawing/2014/main" id="{7E19263F-4A61-463F-989E-F22B959F13D8}"/>
              </a:ext>
            </a:extLst>
          </p:cNvPr>
          <p:cNvSpPr>
            <a:spLocks xmlns:a="http://schemas.openxmlformats.org/drawingml/2006/main" noGrp="1"/>
          </p:cNvSpPr>
          <p:nvPr/>
        </p:nvSpPr>
        <p:spPr>
          <a:xfrm xmlns:a="http://schemas.openxmlformats.org/drawingml/2006/main">
            <a:off x="685800" y="533400"/>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185C91"/>
                </a:solidFill>
                <a:latin typeface="Lato"/>
                <a:ea typeface="Lato"/>
                <a:cs typeface="Lato"/>
              </a:defRPr>
            </a:pPr>
            <a:r>
              <a:rPr sz="2100" b="1">
                <a:solidFill>
                  <a:srgbClr val="185C91"/>
                </a:solidFill>
                <a:latin typeface="Lato"/>
                <a:ea typeface="Lato"/>
                <a:cs typeface="Lato"/>
              </a:rPr>
              <a:t>Grindstone Wrestling Club</a:t>
            </a:r>
          </a:p>
        </p:txBody>
      </p:sp>
      <p:sp>
        <p:nvSpPr>
          <p:cNvPr id="3" name="">
            <a:extLst xmlns:a="http://schemas.openxmlformats.org/drawingml/2006/main">
              <a:ext uri="{FF2B5EF4-FFF2-40B4-BE49-F238E27FC236}">
                <a16:creationId xmlns:a16="http://schemas.microsoft.com/office/drawing/2014/main" id="{9E018F14-954E-440C-B8EC-F6C0B1B96316}"/>
              </a:ext>
            </a:extLst>
          </p:cNvPr>
          <p:cNvSpPr>
            <a:spLocks xmlns:a="http://schemas.openxmlformats.org/drawingml/2006/main" noGrp="1"/>
          </p:cNvSpPr>
          <p:nvPr/>
        </p:nvSpPr>
        <p:spPr>
          <a:xfrm xmlns:a="http://schemas.openxmlformats.org/drawingml/2006/main">
            <a:off x="685800" y="1638300"/>
            <a:ext cx="8286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5400" b="1">
                <a:solidFill>
                  <a:srgbClr val="172B40"/>
                </a:solidFill>
                <a:latin typeface="Lato"/>
                <a:ea typeface="Lato"/>
                <a:cs typeface="Lato"/>
              </a:defRPr>
            </a:pPr>
            <a:r>
              <a:rPr sz="5400" b="1">
                <a:solidFill>
                  <a:srgbClr val="172B40"/>
                </a:solidFill>
                <a:latin typeface="Lato"/>
                <a:ea typeface="Lato"/>
                <a:cs typeface="Lato"/>
              </a:rPr>
              <a:t>Your first</a:t>
            </a:r>
          </a:p>
          <a:p xmlns:a="http://schemas.openxmlformats.org/drawingml/2006/main">
            <a:pPr>
              <a:buNone/>
              <a:defRPr sz="5400" b="1">
                <a:solidFill>
                  <a:srgbClr val="172B40"/>
                </a:solidFill>
                <a:latin typeface="Lato"/>
                <a:ea typeface="Lato"/>
                <a:cs typeface="Lato"/>
              </a:defRPr>
            </a:pPr>
            <a:r>
              <a:rPr sz="5400" b="1">
                <a:solidFill>
                  <a:srgbClr val="172B40"/>
                </a:solidFill>
                <a:latin typeface="Lato"/>
                <a:ea typeface="Lato"/>
                <a:cs typeface="Lato"/>
              </a:rPr>
              <a:t>wrestling meet</a:t>
            </a:r>
          </a:p>
        </p:txBody>
      </p:sp>
      <p:sp>
        <p:nvSpPr>
          <p:cNvPr id="4" name="">
            <a:extLst xmlns:a="http://schemas.openxmlformats.org/drawingml/2006/main">
              <a:ext uri="{FF2B5EF4-FFF2-40B4-BE49-F238E27FC236}">
                <a16:creationId xmlns:a16="http://schemas.microsoft.com/office/drawing/2014/main" id="{64274389-DC89-4314-BEA5-935073AECE2B}"/>
              </a:ext>
            </a:extLst>
          </p:cNvPr>
          <p:cNvSpPr>
            <a:spLocks xmlns:a="http://schemas.openxmlformats.org/drawingml/2006/main" noGrp="1"/>
          </p:cNvSpPr>
          <p:nvPr/>
        </p:nvSpPr>
        <p:spPr>
          <a:xfrm xmlns:a="http://schemas.openxmlformats.org/drawingml/2006/main">
            <a:off x="723900" y="3714750"/>
            <a:ext cx="857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b="0">
                <a:solidFill>
                  <a:srgbClr val="486177"/>
                </a:solidFill>
                <a:latin typeface="Lato"/>
                <a:ea typeface="Lato"/>
                <a:cs typeface="Lato"/>
              </a:defRPr>
            </a:pPr>
            <a:r>
              <a:rPr sz="2700" b="0">
                <a:solidFill>
                  <a:srgbClr val="486177"/>
                </a:solidFill>
                <a:latin typeface="Lato"/>
                <a:ea typeface="Lato"/>
                <a:cs typeface="Lato"/>
              </a:rPr>
              <a:t>A parent guide for Mat Rats</a:t>
            </a:r>
          </a:p>
          <a:p xmlns:a="http://schemas.openxmlformats.org/drawingml/2006/main">
            <a:pPr>
              <a:buNone/>
              <a:defRPr sz="2700" b="0">
                <a:solidFill>
                  <a:srgbClr val="486177"/>
                </a:solidFill>
                <a:latin typeface="Lato"/>
                <a:ea typeface="Lato"/>
                <a:cs typeface="Lato"/>
              </a:defRPr>
            </a:pPr>
            <a:r>
              <a:rPr sz="2700" b="0">
                <a:solidFill>
                  <a:srgbClr val="486177"/>
                </a:solidFill>
                <a:latin typeface="Lato"/>
                <a:ea typeface="Lato"/>
                <a:cs typeface="Lato"/>
              </a:rPr>
              <a:t>and Valkyries families</a:t>
            </a:r>
          </a:p>
        </p:txBody>
      </p:sp>
      <p:sp>
        <p:nvSpPr>
          <p:cNvPr id="5" name="">
            <a:extLst xmlns:a="http://schemas.openxmlformats.org/drawingml/2006/main">
              <a:ext uri="{FF2B5EF4-FFF2-40B4-BE49-F238E27FC236}">
                <a16:creationId xmlns:a16="http://schemas.microsoft.com/office/drawing/2014/main" id="{DBEE62BA-B076-408E-A2EE-A6D7F82693D3}"/>
              </a:ext>
            </a:extLst>
          </p:cNvPr>
          <p:cNvSpPr>
            <a:spLocks xmlns:a="http://schemas.openxmlformats.org/drawingml/2006/main" noGrp="1"/>
          </p:cNvSpPr>
          <p:nvPr/>
        </p:nvSpPr>
        <p:spPr>
          <a:xfrm xmlns:a="http://schemas.openxmlformats.org/drawingml/2006/main">
            <a:off x="723900" y="542925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72B40"/>
                </a:solidFill>
                <a:latin typeface="Lato"/>
                <a:ea typeface="Lato"/>
                <a:cs typeface="Lato"/>
              </a:defRPr>
            </a:pPr>
            <a:r>
              <a:rPr sz="1875" b="0">
                <a:solidFill>
                  <a:srgbClr val="172B40"/>
                </a:solidFill>
                <a:latin typeface="Lato"/>
                <a:ea typeface="Lato"/>
                <a:cs typeface="Lato"/>
              </a:rPr>
              <a:t>Westminster Area Recreation Council</a:t>
            </a:r>
          </a:p>
        </p:txBody>
      </p:sp>
      <p:sp>
        <p:nvSpPr>
          <p:cNvPr id="6" name="">
            <a:extLst xmlns:a="http://schemas.openxmlformats.org/drawingml/2006/main">
              <a:ext uri="{FF2B5EF4-FFF2-40B4-BE49-F238E27FC236}">
                <a16:creationId xmlns:a16="http://schemas.microsoft.com/office/drawing/2014/main" id="{F43B0042-A1C3-4697-9B5B-9EEE9159C484}"/>
              </a:ext>
            </a:extLst>
          </p:cNvPr>
          <p:cNvSpPr>
            <a:spLocks xmlns:a="http://schemas.openxmlformats.org/drawingml/2006/main" noGrp="1"/>
          </p:cNvSpPr>
          <p:nvPr/>
        </p:nvSpPr>
        <p:spPr>
          <a:xfrm xmlns:a="http://schemas.openxmlformats.org/drawingml/2006/main">
            <a:off x="723900" y="59055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486177"/>
                </a:solidFill>
                <a:latin typeface="Lato"/>
                <a:ea typeface="Lato"/>
                <a:cs typeface="Lato"/>
              </a:defRPr>
            </a:pPr>
            <a:r>
              <a:rPr sz="1725" b="0">
                <a:solidFill>
                  <a:srgbClr val="486177"/>
                </a:solidFill>
                <a:latin typeface="Lato"/>
                <a:ea typeface="Lato"/>
                <a:cs typeface="Lato"/>
              </a:rPr>
              <a:t>10 minutes + questions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78c03459f7d4ee7"/>
          <a:stretch xmlns:a="http://schemas.openxmlformats.org/drawingml/2006/main"/>
        </p:blipFill>
        <p:spPr>
          <a:xfrm xmlns:a="http://schemas.openxmlformats.org/drawingml/2006/main">
            <a:off x="9201150" y="1913776"/>
            <a:ext cx="1981200" cy="2249397"/>
          </a:xfrm>
          <a:prstGeom xmlns:a="http://schemas.openxmlformats.org/drawingml/2006/main" prst="rect">
            <a:avLst/>
          </a:prstGeom>
        </p:spPr>
      </p:pic>
    </p:spTree>
    <p:extLst>
      <p:ext uri="{BB962C8B-B14F-4D97-AF65-F5344CB8AC3E}">
        <p14:creationId xmlns:p14="http://schemas.microsoft.com/office/powerpoint/2010/main" val="472017847"/>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49B86A5-820F-4BCC-88F3-F56C2F9E99AA}"/>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72B40"/>
                </a:solidFill>
                <a:latin typeface="Lato"/>
                <a:ea typeface="Lato"/>
                <a:cs typeface="Lato"/>
              </a:defRPr>
            </a:pPr>
            <a:r>
              <a:rPr sz="3600" b="1">
                <a:solidFill>
                  <a:srgbClr val="172B40"/>
                </a:solidFill>
                <a:latin typeface="Lato"/>
                <a:ea typeface="Lato"/>
                <a:cs typeface="Lato"/>
              </a:rPr>
              <a:t>A match is one part of the day</a:t>
            </a:r>
          </a:p>
        </p:txBody>
      </p:sp>
      <p:sp>
        <p:nvSpPr>
          <p:cNvPr id="2" name="">
            <a:extLst xmlns:a="http://schemas.openxmlformats.org/drawingml/2006/main">
              <a:ext uri="{FF2B5EF4-FFF2-40B4-BE49-F238E27FC236}">
                <a16:creationId xmlns:a16="http://schemas.microsoft.com/office/drawing/2014/main" id="{C66212EC-7C6B-4581-A4B9-1C273B706919}"/>
              </a:ext>
            </a:extLst>
          </p:cNvPr>
          <p:cNvSpPr>
            <a:spLocks xmlns:a="http://schemas.openxmlformats.org/drawingml/2006/main" noGrp="1"/>
          </p:cNvSpPr>
          <p:nvPr/>
        </p:nvSpPr>
        <p:spPr>
          <a:xfrm xmlns:a="http://schemas.openxmlformats.org/drawingml/2006/main">
            <a:off x="11239500" y="6305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86177"/>
                </a:solidFill>
                <a:latin typeface="Lato"/>
                <a:ea typeface="Lato"/>
                <a:cs typeface="Lato"/>
              </a:defRPr>
            </a:pPr>
            <a:r>
              <a:rPr sz="1350" b="0">
                <a:solidFill>
                  <a:srgbClr val="486177"/>
                </a:solidFill>
                <a:latin typeface="Lato"/>
                <a:ea typeface="Lato"/>
                <a:cs typeface="Lato"/>
              </a:rPr>
              <a:t>02</a:t>
            </a:r>
          </a:p>
        </p:txBody>
      </p:sp>
      <p:sp>
        <p:nvSpPr>
          <p:cNvPr id="3" name="">
            <a:extLst xmlns:a="http://schemas.openxmlformats.org/drawingml/2006/main">
              <a:ext uri="{FF2B5EF4-FFF2-40B4-BE49-F238E27FC236}">
                <a16:creationId xmlns:a16="http://schemas.microsoft.com/office/drawing/2014/main" id="{A49E4C22-EDF4-4EA9-82B1-11BC58A6C4CC}"/>
              </a:ext>
            </a:extLst>
          </p:cNvPr>
          <p:cNvSpPr>
            <a:spLocks xmlns:a="http://schemas.openxmlformats.org/drawingml/2006/main" noGrp="1"/>
          </p:cNvSpPr>
          <p:nvPr/>
        </p:nvSpPr>
        <p:spPr>
          <a:xfrm xmlns:a="http://schemas.openxmlformats.org/drawingml/2006/main">
            <a:off x="704850" y="17049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185C91"/>
                </a:solidFill>
                <a:latin typeface="Lato"/>
                <a:ea typeface="Lato"/>
                <a:cs typeface="Lato"/>
              </a:defRPr>
            </a:pPr>
            <a:r>
              <a:rPr sz="2250" b="1">
                <a:solidFill>
                  <a:srgbClr val="185C91"/>
                </a:solidFill>
                <a:latin typeface="Lato"/>
                <a:ea typeface="Lato"/>
                <a:cs typeface="Lato"/>
              </a:rPr>
              <a:t>MATCH or BOUT</a:t>
            </a:r>
          </a:p>
        </p:txBody>
      </p:sp>
      <p:sp>
        <p:nvSpPr>
          <p:cNvPr id="4" name="">
            <a:extLst xmlns:a="http://schemas.openxmlformats.org/drawingml/2006/main">
              <a:ext uri="{FF2B5EF4-FFF2-40B4-BE49-F238E27FC236}">
                <a16:creationId xmlns:a16="http://schemas.microsoft.com/office/drawing/2014/main" id="{7B9B46A6-71A4-4607-9E65-01DE3422E916}"/>
              </a:ext>
            </a:extLst>
          </p:cNvPr>
          <p:cNvSpPr>
            <a:spLocks xmlns:a="http://schemas.openxmlformats.org/drawingml/2006/main" noGrp="1"/>
          </p:cNvSpPr>
          <p:nvPr/>
        </p:nvSpPr>
        <p:spPr>
          <a:xfrm xmlns:a="http://schemas.openxmlformats.org/drawingml/2006/main">
            <a:off x="4095750" y="1666875"/>
            <a:ext cx="7296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b="0">
                <a:solidFill>
                  <a:srgbClr val="172B40"/>
                </a:solidFill>
                <a:latin typeface="Lato"/>
                <a:ea typeface="Lato"/>
                <a:cs typeface="Lato"/>
              </a:defRPr>
            </a:pPr>
            <a:r>
              <a:rPr sz="2700" b="0">
                <a:solidFill>
                  <a:srgbClr val="172B40"/>
                </a:solidFill>
                <a:latin typeface="Lato"/>
                <a:ea typeface="Lato"/>
                <a:cs typeface="Lato"/>
              </a:rPr>
              <a:t>One wrestler against one opponent</a:t>
            </a:r>
          </a:p>
        </p:txBody>
      </p:sp>
      <p:sp>
        <p:nvSpPr>
          <p:cNvPr id="5" name="">
            <a:extLst xmlns:a="http://schemas.openxmlformats.org/drawingml/2006/main">
              <a:ext uri="{FF2B5EF4-FFF2-40B4-BE49-F238E27FC236}">
                <a16:creationId xmlns:a16="http://schemas.microsoft.com/office/drawing/2014/main" id="{21D78AB9-33BB-4EE4-B452-77EBD68F4B89}"/>
              </a:ext>
            </a:extLst>
          </p:cNvPr>
          <p:cNvSpPr>
            <a:spLocks xmlns:a="http://schemas.openxmlformats.org/drawingml/2006/main" noGrp="1"/>
          </p:cNvSpPr>
          <p:nvPr/>
        </p:nvSpPr>
        <p:spPr>
          <a:xfrm xmlns:a="http://schemas.openxmlformats.org/drawingml/2006/main">
            <a:off x="704850" y="29241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185C91"/>
                </a:solidFill>
                <a:latin typeface="Lato"/>
                <a:ea typeface="Lato"/>
                <a:cs typeface="Lato"/>
              </a:defRPr>
            </a:pPr>
            <a:r>
              <a:rPr sz="2250" b="1">
                <a:solidFill>
                  <a:srgbClr val="185C91"/>
                </a:solidFill>
                <a:latin typeface="Lato"/>
                <a:ea typeface="Lato"/>
                <a:cs typeface="Lato"/>
              </a:rPr>
              <a:t>MEET</a:t>
            </a:r>
          </a:p>
        </p:txBody>
      </p:sp>
      <p:sp>
        <p:nvSpPr>
          <p:cNvPr id="6" name="">
            <a:extLst xmlns:a="http://schemas.openxmlformats.org/drawingml/2006/main">
              <a:ext uri="{FF2B5EF4-FFF2-40B4-BE49-F238E27FC236}">
                <a16:creationId xmlns:a16="http://schemas.microsoft.com/office/drawing/2014/main" id="{AE93F61E-1C3C-44FD-9247-2D90681C1CE5}"/>
              </a:ext>
            </a:extLst>
          </p:cNvPr>
          <p:cNvSpPr>
            <a:spLocks xmlns:a="http://schemas.openxmlformats.org/drawingml/2006/main" noGrp="1"/>
          </p:cNvSpPr>
          <p:nvPr/>
        </p:nvSpPr>
        <p:spPr>
          <a:xfrm xmlns:a="http://schemas.openxmlformats.org/drawingml/2006/main">
            <a:off x="4095750" y="2886075"/>
            <a:ext cx="7296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b="0">
                <a:solidFill>
                  <a:srgbClr val="172B40"/>
                </a:solidFill>
                <a:latin typeface="Lato"/>
                <a:ea typeface="Lato"/>
                <a:cs typeface="Lato"/>
              </a:defRPr>
            </a:pPr>
            <a:r>
              <a:rPr sz="2700" b="0">
                <a:solidFill>
                  <a:srgbClr val="172B40"/>
                </a:solidFill>
                <a:latin typeface="Lato"/>
                <a:ea typeface="Lato"/>
                <a:cs typeface="Lato"/>
              </a:rPr>
              <a:t>The event containing many matches</a:t>
            </a:r>
          </a:p>
        </p:txBody>
      </p:sp>
      <p:sp>
        <p:nvSpPr>
          <p:cNvPr id="7" name="">
            <a:extLst xmlns:a="http://schemas.openxmlformats.org/drawingml/2006/main">
              <a:ext uri="{FF2B5EF4-FFF2-40B4-BE49-F238E27FC236}">
                <a16:creationId xmlns:a16="http://schemas.microsoft.com/office/drawing/2014/main" id="{93AAFC18-C19B-4AA9-892B-C2EDF06D0A6C}"/>
              </a:ext>
            </a:extLst>
          </p:cNvPr>
          <p:cNvSpPr>
            <a:spLocks xmlns:a="http://schemas.openxmlformats.org/drawingml/2006/main" noGrp="1"/>
          </p:cNvSpPr>
          <p:nvPr/>
        </p:nvSpPr>
        <p:spPr>
          <a:xfrm xmlns:a="http://schemas.openxmlformats.org/drawingml/2006/main">
            <a:off x="704850" y="41433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185C91"/>
                </a:solidFill>
                <a:latin typeface="Lato"/>
                <a:ea typeface="Lato"/>
                <a:cs typeface="Lato"/>
              </a:defRPr>
            </a:pPr>
            <a:r>
              <a:rPr sz="2250" b="1">
                <a:solidFill>
                  <a:srgbClr val="185C91"/>
                </a:solidFill>
                <a:latin typeface="Lato"/>
                <a:ea typeface="Lato"/>
                <a:cs typeface="Lato"/>
              </a:rPr>
              <a:t>TOURNAMENT</a:t>
            </a:r>
          </a:p>
        </p:txBody>
      </p:sp>
      <p:sp>
        <p:nvSpPr>
          <p:cNvPr id="8" name="">
            <a:extLst xmlns:a="http://schemas.openxmlformats.org/drawingml/2006/main">
              <a:ext uri="{FF2B5EF4-FFF2-40B4-BE49-F238E27FC236}">
                <a16:creationId xmlns:a16="http://schemas.microsoft.com/office/drawing/2014/main" id="{04B498D6-5B4B-45C4-B9D0-1916E6FD102A}"/>
              </a:ext>
            </a:extLst>
          </p:cNvPr>
          <p:cNvSpPr>
            <a:spLocks xmlns:a="http://schemas.openxmlformats.org/drawingml/2006/main" noGrp="1"/>
          </p:cNvSpPr>
          <p:nvPr/>
        </p:nvSpPr>
        <p:spPr>
          <a:xfrm xmlns:a="http://schemas.openxmlformats.org/drawingml/2006/main">
            <a:off x="4095750" y="4105275"/>
            <a:ext cx="7296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b="0">
                <a:solidFill>
                  <a:srgbClr val="172B40"/>
                </a:solidFill>
                <a:latin typeface="Lato"/>
                <a:ea typeface="Lato"/>
                <a:cs typeface="Lato"/>
              </a:defRPr>
            </a:pPr>
            <a:r>
              <a:rPr sz="2700" b="0">
                <a:solidFill>
                  <a:srgbClr val="172B40"/>
                </a:solidFill>
                <a:latin typeface="Lato"/>
                <a:ea typeface="Lato"/>
                <a:cs typeface="Lato"/>
              </a:rPr>
              <a:t>Matches organized into brackets or pools</a:t>
            </a:r>
          </a:p>
        </p:txBody>
      </p:sp>
      <p:sp>
        <p:nvSpPr>
          <p:cNvPr id="9" name="">
            <a:extLst xmlns:a="http://schemas.openxmlformats.org/drawingml/2006/main">
              <a:ext uri="{FF2B5EF4-FFF2-40B4-BE49-F238E27FC236}">
                <a16:creationId xmlns:a16="http://schemas.microsoft.com/office/drawing/2014/main" id="{1C07BDF5-B914-4924-9285-4848DDC89B13}"/>
              </a:ext>
            </a:extLst>
          </p:cNvPr>
          <p:cNvSpPr>
            <a:spLocks xmlns:a="http://schemas.openxmlformats.org/drawingml/2006/main" noGrp="1"/>
          </p:cNvSpPr>
          <p:nvPr/>
        </p:nvSpPr>
        <p:spPr>
          <a:xfrm xmlns:a="http://schemas.openxmlformats.org/drawingml/2006/main">
            <a:off x="685800" y="5857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85C91"/>
                </a:solidFill>
                <a:latin typeface="Lato"/>
                <a:ea typeface="Lato"/>
                <a:cs typeface="Lato"/>
              </a:defRPr>
            </a:pPr>
            <a:r>
              <a:rPr sz="1875" b="1">
                <a:solidFill>
                  <a:srgbClr val="185C91"/>
                </a:solidFill>
                <a:latin typeface="Lato"/>
                <a:ea typeface="Lato"/>
                <a:cs typeface="Lato"/>
              </a:rPr>
              <a:t>Mat number = where. Bout number = which match.</a:t>
            </a:r>
          </a:p>
        </p:txBody>
      </p:sp>
    </p:spTree>
    <p:extLst>
      <p:ext uri="{BB962C8B-B14F-4D97-AF65-F5344CB8AC3E}">
        <p14:creationId xmlns:p14="http://schemas.microsoft.com/office/powerpoint/2010/main" val="1991463756"/>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E60CE9B-D012-4AEB-8125-F69C16B92247}"/>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72B40"/>
                </a:solidFill>
                <a:latin typeface="Lato"/>
                <a:ea typeface="Lato"/>
                <a:cs typeface="Lato"/>
              </a:defRPr>
            </a:pPr>
            <a:r>
              <a:rPr sz="3600" b="1">
                <a:solidFill>
                  <a:srgbClr val="172B40"/>
                </a:solidFill>
                <a:latin typeface="Lato"/>
                <a:ea typeface="Lato"/>
                <a:cs typeface="Lato"/>
              </a:rPr>
              <a:t>The three positions</a:t>
            </a:r>
          </a:p>
        </p:txBody>
      </p:sp>
      <p:sp>
        <p:nvSpPr>
          <p:cNvPr id="2" name="">
            <a:extLst xmlns:a="http://schemas.openxmlformats.org/drawingml/2006/main">
              <a:ext uri="{FF2B5EF4-FFF2-40B4-BE49-F238E27FC236}">
                <a16:creationId xmlns:a16="http://schemas.microsoft.com/office/drawing/2014/main" id="{B0155C3B-B50E-4B8E-9B1C-DAF859E9B0DD}"/>
              </a:ext>
            </a:extLst>
          </p:cNvPr>
          <p:cNvSpPr>
            <a:spLocks xmlns:a="http://schemas.openxmlformats.org/drawingml/2006/main" noGrp="1"/>
          </p:cNvSpPr>
          <p:nvPr/>
        </p:nvSpPr>
        <p:spPr>
          <a:xfrm xmlns:a="http://schemas.openxmlformats.org/drawingml/2006/main">
            <a:off x="11239500" y="6305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86177"/>
                </a:solidFill>
                <a:latin typeface="Lato"/>
                <a:ea typeface="Lato"/>
                <a:cs typeface="Lato"/>
              </a:defRPr>
            </a:pPr>
            <a:r>
              <a:rPr sz="1350" b="0">
                <a:solidFill>
                  <a:srgbClr val="486177"/>
                </a:solidFill>
                <a:latin typeface="Lato"/>
                <a:ea typeface="Lato"/>
                <a:cs typeface="Lato"/>
              </a:rPr>
              <a:t>03</a:t>
            </a:r>
          </a:p>
        </p:txBody>
      </p:sp>
      <p:sp>
        <p:nvSpPr>
          <p:cNvPr id="3" name="">
            <a:extLst xmlns:a="http://schemas.openxmlformats.org/drawingml/2006/main">
              <a:ext uri="{FF2B5EF4-FFF2-40B4-BE49-F238E27FC236}">
                <a16:creationId xmlns:a16="http://schemas.microsoft.com/office/drawing/2014/main" id="{91BE3329-34E3-4348-B7C4-2A5BBD9C80F8}"/>
              </a:ext>
            </a:extLst>
          </p:cNvPr>
          <p:cNvSpPr>
            <a:spLocks xmlns:a="http://schemas.openxmlformats.org/drawingml/2006/main" noGrp="1"/>
          </p:cNvSpPr>
          <p:nvPr/>
        </p:nvSpPr>
        <p:spPr>
          <a:xfrm xmlns:a="http://schemas.openxmlformats.org/drawingml/2006/main">
            <a:off x="685800" y="14859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85C91"/>
                </a:solidFill>
                <a:latin typeface="Lato"/>
                <a:ea typeface="Lato"/>
                <a:cs typeface="Lato"/>
              </a:defRPr>
            </a:pPr>
            <a:r>
              <a:rPr sz="2400" b="1">
                <a:solidFill>
                  <a:srgbClr val="185C91"/>
                </a:solidFill>
                <a:latin typeface="Lato"/>
                <a:ea typeface="Lato"/>
                <a:cs typeface="Lato"/>
              </a:rPr>
              <a:t>NEUTRAL</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7eaa4709e4c4678"/>
          <a:stretch xmlns:a="http://schemas.openxmlformats.org/drawingml/2006/main"/>
        </p:blipFill>
        <p:spPr>
          <a:xfrm xmlns:a="http://schemas.openxmlformats.org/drawingml/2006/main">
            <a:off x="685800" y="2038350"/>
            <a:ext cx="3276600" cy="2457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F8CEDED-B59A-4DD8-AABE-66988B025609}"/>
              </a:ext>
            </a:extLst>
          </p:cNvPr>
          <p:cNvSpPr>
            <a:spLocks xmlns:a="http://schemas.openxmlformats.org/drawingml/2006/main" noGrp="1"/>
          </p:cNvSpPr>
          <p:nvPr/>
        </p:nvSpPr>
        <p:spPr>
          <a:xfrm xmlns:a="http://schemas.openxmlformats.org/drawingml/2006/main">
            <a:off x="685800" y="4648200"/>
            <a:ext cx="3286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72B40"/>
                </a:solidFill>
                <a:latin typeface="Lato"/>
                <a:ea typeface="Lato"/>
                <a:cs typeface="Lato"/>
              </a:defRPr>
            </a:pPr>
            <a:r>
              <a:rPr sz="2175" b="0">
                <a:solidFill>
                  <a:srgbClr val="172B40"/>
                </a:solidFill>
                <a:latin typeface="Lato"/>
                <a:ea typeface="Lato"/>
                <a:cs typeface="Lato"/>
              </a:rPr>
              <a:t>Neither wrestler controls the other</a:t>
            </a:r>
          </a:p>
        </p:txBody>
      </p:sp>
      <p:sp>
        <p:nvSpPr>
          <p:cNvPr id="6" name="">
            <a:extLst xmlns:a="http://schemas.openxmlformats.org/drawingml/2006/main">
              <a:ext uri="{FF2B5EF4-FFF2-40B4-BE49-F238E27FC236}">
                <a16:creationId xmlns:a16="http://schemas.microsoft.com/office/drawing/2014/main" id="{090C3748-07C6-47CB-81F5-952C2883D210}"/>
              </a:ext>
            </a:extLst>
          </p:cNvPr>
          <p:cNvSpPr>
            <a:spLocks xmlns:a="http://schemas.openxmlformats.org/drawingml/2006/main" noGrp="1"/>
          </p:cNvSpPr>
          <p:nvPr/>
        </p:nvSpPr>
        <p:spPr>
          <a:xfrm xmlns:a="http://schemas.openxmlformats.org/drawingml/2006/main">
            <a:off x="4438650" y="14859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85C91"/>
                </a:solidFill>
                <a:latin typeface="Lato"/>
                <a:ea typeface="Lato"/>
                <a:cs typeface="Lato"/>
              </a:defRPr>
            </a:pPr>
            <a:r>
              <a:rPr sz="2400" b="1">
                <a:solidFill>
                  <a:srgbClr val="185C91"/>
                </a:solidFill>
                <a:latin typeface="Lato"/>
                <a:ea typeface="Lato"/>
                <a:cs typeface="Lato"/>
              </a:rPr>
              <a:t>TOP</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2b0459d5fb4470d"/>
          <a:stretch xmlns:a="http://schemas.openxmlformats.org/drawingml/2006/main"/>
        </p:blipFill>
        <p:spPr>
          <a:xfrm xmlns:a="http://schemas.openxmlformats.org/drawingml/2006/main">
            <a:off x="4438650" y="2038350"/>
            <a:ext cx="3276600" cy="24574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C1BF897-945A-4322-8CC4-D4B1C11559B7}"/>
              </a:ext>
            </a:extLst>
          </p:cNvPr>
          <p:cNvSpPr>
            <a:spLocks xmlns:a="http://schemas.openxmlformats.org/drawingml/2006/main" noGrp="1"/>
          </p:cNvSpPr>
          <p:nvPr/>
        </p:nvSpPr>
        <p:spPr>
          <a:xfrm xmlns:a="http://schemas.openxmlformats.org/drawingml/2006/main">
            <a:off x="4438650" y="4648200"/>
            <a:ext cx="3286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72B40"/>
                </a:solidFill>
                <a:latin typeface="Lato"/>
                <a:ea typeface="Lato"/>
                <a:cs typeface="Lato"/>
              </a:defRPr>
            </a:pPr>
            <a:r>
              <a:rPr sz="2175" b="0">
                <a:solidFill>
                  <a:srgbClr val="172B40"/>
                </a:solidFill>
                <a:latin typeface="Lato"/>
                <a:ea typeface="Lato"/>
                <a:cs typeface="Lato"/>
              </a:rPr>
              <a:t>The wrestler in control</a:t>
            </a:r>
          </a:p>
        </p:txBody>
      </p:sp>
      <p:sp>
        <p:nvSpPr>
          <p:cNvPr id="9" name="">
            <a:extLst xmlns:a="http://schemas.openxmlformats.org/drawingml/2006/main">
              <a:ext uri="{FF2B5EF4-FFF2-40B4-BE49-F238E27FC236}">
                <a16:creationId xmlns:a16="http://schemas.microsoft.com/office/drawing/2014/main" id="{BC1AE9B0-AB30-4DD0-A58F-503D20725129}"/>
              </a:ext>
            </a:extLst>
          </p:cNvPr>
          <p:cNvSpPr>
            <a:spLocks xmlns:a="http://schemas.openxmlformats.org/drawingml/2006/main" noGrp="1"/>
          </p:cNvSpPr>
          <p:nvPr/>
        </p:nvSpPr>
        <p:spPr>
          <a:xfrm xmlns:a="http://schemas.openxmlformats.org/drawingml/2006/main">
            <a:off x="8191500" y="14859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85C91"/>
                </a:solidFill>
                <a:latin typeface="Lato"/>
                <a:ea typeface="Lato"/>
                <a:cs typeface="Lato"/>
              </a:defRPr>
            </a:pPr>
            <a:r>
              <a:rPr sz="2400" b="1">
                <a:solidFill>
                  <a:srgbClr val="185C91"/>
                </a:solidFill>
                <a:latin typeface="Lato"/>
                <a:ea typeface="Lato"/>
                <a:cs typeface="Lato"/>
              </a:rPr>
              <a:t>BOTTOM</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3036d522c42c4890"/>
          <a:stretch xmlns:a="http://schemas.openxmlformats.org/drawingml/2006/main"/>
        </p:blipFill>
        <p:spPr>
          <a:xfrm xmlns:a="http://schemas.openxmlformats.org/drawingml/2006/main">
            <a:off x="8191500" y="2038350"/>
            <a:ext cx="3276600" cy="24574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ED88907-19D8-4374-BA79-2F3D83C63B02}"/>
              </a:ext>
            </a:extLst>
          </p:cNvPr>
          <p:cNvSpPr>
            <a:spLocks xmlns:a="http://schemas.openxmlformats.org/drawingml/2006/main" noGrp="1"/>
          </p:cNvSpPr>
          <p:nvPr/>
        </p:nvSpPr>
        <p:spPr>
          <a:xfrm xmlns:a="http://schemas.openxmlformats.org/drawingml/2006/main">
            <a:off x="8191500" y="4648200"/>
            <a:ext cx="3286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72B40"/>
                </a:solidFill>
                <a:latin typeface="Lato"/>
                <a:ea typeface="Lato"/>
                <a:cs typeface="Lato"/>
              </a:defRPr>
            </a:pPr>
            <a:r>
              <a:rPr sz="2175" b="0">
                <a:solidFill>
                  <a:srgbClr val="172B40"/>
                </a:solidFill>
                <a:latin typeface="Lato"/>
                <a:ea typeface="Lato"/>
                <a:cs typeface="Lato"/>
              </a:rPr>
              <a:t>The wrestler working to get free or take control</a:t>
            </a:r>
          </a:p>
        </p:txBody>
      </p:sp>
      <p:sp>
        <p:nvSpPr>
          <p:cNvPr id="12" name="">
            <a:extLst xmlns:a="http://schemas.openxmlformats.org/drawingml/2006/main">
              <a:ext uri="{FF2B5EF4-FFF2-40B4-BE49-F238E27FC236}">
                <a16:creationId xmlns:a16="http://schemas.microsoft.com/office/drawing/2014/main" id="{4F9C9A7F-EFD2-4F7D-B5D4-5A00113CAAC4}"/>
              </a:ext>
            </a:extLst>
          </p:cNvPr>
          <p:cNvSpPr>
            <a:spLocks xmlns:a="http://schemas.openxmlformats.org/drawingml/2006/main" noGrp="1"/>
          </p:cNvSpPr>
          <p:nvPr/>
        </p:nvSpPr>
        <p:spPr>
          <a:xfrm xmlns:a="http://schemas.openxmlformats.org/drawingml/2006/main">
            <a:off x="685800" y="55816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486177"/>
                </a:solidFill>
                <a:latin typeface="Lato"/>
                <a:ea typeface="Lato"/>
                <a:cs typeface="Lato"/>
              </a:defRPr>
            </a:pPr>
            <a:r>
              <a:rPr sz="1500" b="0">
                <a:solidFill>
                  <a:srgbClr val="486177"/>
                </a:solidFill>
                <a:latin typeface="Lato"/>
                <a:ea typeface="Lato"/>
                <a:cs typeface="Lato"/>
              </a:rPr>
              <a:t>USA Wrestling position reference images: neutral, top and bottom</a:t>
            </a:r>
          </a:p>
        </p:txBody>
      </p:sp>
      <p:sp>
        <p:nvSpPr>
          <p:cNvPr id="13" name="">
            <a:extLst xmlns:a="http://schemas.openxmlformats.org/drawingml/2006/main">
              <a:ext uri="{FF2B5EF4-FFF2-40B4-BE49-F238E27FC236}">
                <a16:creationId xmlns:a16="http://schemas.microsoft.com/office/drawing/2014/main" id="{C5F75B51-38E6-4B12-B4D0-449C8D8976E7}"/>
              </a:ext>
            </a:extLst>
          </p:cNvPr>
          <p:cNvSpPr>
            <a:spLocks xmlns:a="http://schemas.openxmlformats.org/drawingml/2006/main" noGrp="1"/>
          </p:cNvSpPr>
          <p:nvPr/>
        </p:nvSpPr>
        <p:spPr>
          <a:xfrm xmlns:a="http://schemas.openxmlformats.org/drawingml/2006/main">
            <a:off x="685800" y="5857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85C91"/>
                </a:solidFill>
                <a:latin typeface="Lato"/>
                <a:ea typeface="Lato"/>
                <a:cs typeface="Lato"/>
              </a:defRPr>
            </a:pPr>
            <a:r>
              <a:rPr sz="1875" b="1">
                <a:solidFill>
                  <a:srgbClr val="185C91"/>
                </a:solidFill>
                <a:latin typeface="Lato"/>
                <a:ea typeface="Lato"/>
                <a:cs typeface="Lato"/>
              </a:rPr>
              <a:t>Control determines scoring. Being above someone is not enough.</a:t>
            </a:r>
          </a:p>
        </p:txBody>
      </p:sp>
    </p:spTree>
    <p:extLst>
      <p:ext uri="{BB962C8B-B14F-4D97-AF65-F5344CB8AC3E}">
        <p14:creationId xmlns:p14="http://schemas.microsoft.com/office/powerpoint/2010/main" val="2115055656"/>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AB6708F-3502-4029-BB06-4DEC5034EC98}"/>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72B40"/>
                </a:solidFill>
                <a:latin typeface="Lato"/>
                <a:ea typeface="Lato"/>
                <a:cs typeface="Lato"/>
              </a:defRPr>
            </a:pPr>
            <a:r>
              <a:rPr sz="3600" b="1">
                <a:solidFill>
                  <a:srgbClr val="172B40"/>
                </a:solidFill>
                <a:latin typeface="Lato"/>
                <a:ea typeface="Lato"/>
                <a:cs typeface="Lato"/>
              </a:rPr>
              <a:t>The points you will see most</a:t>
            </a:r>
          </a:p>
        </p:txBody>
      </p:sp>
      <p:sp>
        <p:nvSpPr>
          <p:cNvPr id="2" name="">
            <a:extLst xmlns:a="http://schemas.openxmlformats.org/drawingml/2006/main">
              <a:ext uri="{FF2B5EF4-FFF2-40B4-BE49-F238E27FC236}">
                <a16:creationId xmlns:a16="http://schemas.microsoft.com/office/drawing/2014/main" id="{24E0F51E-39BE-4AA7-A64A-9DF962D04A59}"/>
              </a:ext>
            </a:extLst>
          </p:cNvPr>
          <p:cNvSpPr>
            <a:spLocks xmlns:a="http://schemas.openxmlformats.org/drawingml/2006/main" noGrp="1"/>
          </p:cNvSpPr>
          <p:nvPr/>
        </p:nvSpPr>
        <p:spPr>
          <a:xfrm xmlns:a="http://schemas.openxmlformats.org/drawingml/2006/main">
            <a:off x="11239500" y="6305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86177"/>
                </a:solidFill>
                <a:latin typeface="Lato"/>
                <a:ea typeface="Lato"/>
                <a:cs typeface="Lato"/>
              </a:defRPr>
            </a:pPr>
            <a:r>
              <a:rPr sz="1350" b="0">
                <a:solidFill>
                  <a:srgbClr val="486177"/>
                </a:solidFill>
                <a:latin typeface="Lato"/>
                <a:ea typeface="Lato"/>
                <a:cs typeface="Lato"/>
              </a:rPr>
              <a:t>04</a:t>
            </a:r>
          </a:p>
        </p:txBody>
      </p:sp>
      <p:sp>
        <p:nvSpPr>
          <p:cNvPr id="3" name="">
            <a:extLst xmlns:a="http://schemas.openxmlformats.org/drawingml/2006/main">
              <a:ext uri="{FF2B5EF4-FFF2-40B4-BE49-F238E27FC236}">
                <a16:creationId xmlns:a16="http://schemas.microsoft.com/office/drawing/2014/main" id="{FFBF0F57-7CA7-45BF-AFCB-067F12CF9B9B}"/>
              </a:ext>
            </a:extLst>
          </p:cNvPr>
          <p:cNvSpPr>
            <a:spLocks xmlns:a="http://schemas.openxmlformats.org/drawingml/2006/main" noGrp="1"/>
          </p:cNvSpPr>
          <p:nvPr/>
        </p:nvSpPr>
        <p:spPr>
          <a:xfrm xmlns:a="http://schemas.openxmlformats.org/drawingml/2006/main">
            <a:off x="685800" y="1352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486177"/>
                </a:solidFill>
                <a:latin typeface="Lato"/>
                <a:ea typeface="Lato"/>
                <a:cs typeface="Lato"/>
              </a:defRPr>
            </a:pPr>
            <a:r>
              <a:rPr sz="1725" b="0">
                <a:solidFill>
                  <a:srgbClr val="486177"/>
                </a:solidFill>
                <a:latin typeface="Lato"/>
                <a:ea typeface="Lato"/>
                <a:cs typeface="Lato"/>
              </a:rPr>
              <a:t>Current NFHS folkstyle scoring, the basis for USA Wrestling folkstyle</a:t>
            </a:r>
          </a:p>
        </p:txBody>
      </p:sp>
      <p:sp>
        <p:nvSpPr>
          <p:cNvPr id="4" name="">
            <a:extLst xmlns:a="http://schemas.openxmlformats.org/drawingml/2006/main">
              <a:ext uri="{FF2B5EF4-FFF2-40B4-BE49-F238E27FC236}">
                <a16:creationId xmlns:a16="http://schemas.microsoft.com/office/drawing/2014/main" id="{461F5119-B258-4A14-B994-3514070EF583}"/>
              </a:ext>
            </a:extLst>
          </p:cNvPr>
          <p:cNvSpPr>
            <a:spLocks xmlns:a="http://schemas.openxmlformats.org/drawingml/2006/main" noGrp="1"/>
          </p:cNvSpPr>
          <p:nvPr/>
        </p:nvSpPr>
        <p:spPr>
          <a:xfrm xmlns:a="http://schemas.openxmlformats.org/drawingml/2006/main">
            <a:off x="762000" y="1952625"/>
            <a:ext cx="1200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6000" b="1">
                <a:solidFill>
                  <a:srgbClr val="185C91"/>
                </a:solidFill>
                <a:latin typeface="Lato"/>
                <a:ea typeface="Lato"/>
                <a:cs typeface="Lato"/>
              </a:defRPr>
            </a:pPr>
            <a:r>
              <a:rPr sz="6000" b="1">
                <a:solidFill>
                  <a:srgbClr val="185C91"/>
                </a:solidFill>
                <a:latin typeface="Lato"/>
                <a:ea typeface="Lato"/>
                <a:cs typeface="Lato"/>
              </a:rPr>
              <a:t>3</a:t>
            </a:r>
          </a:p>
        </p:txBody>
      </p:sp>
      <p:sp>
        <p:nvSpPr>
          <p:cNvPr id="5" name="">
            <a:extLst xmlns:a="http://schemas.openxmlformats.org/drawingml/2006/main">
              <a:ext uri="{FF2B5EF4-FFF2-40B4-BE49-F238E27FC236}">
                <a16:creationId xmlns:a16="http://schemas.microsoft.com/office/drawing/2014/main" id="{55AF5F01-35A2-4C4C-B1DE-D81A7FD4CA1B}"/>
              </a:ext>
            </a:extLst>
          </p:cNvPr>
          <p:cNvSpPr>
            <a:spLocks xmlns:a="http://schemas.openxmlformats.org/drawingml/2006/main" noGrp="1"/>
          </p:cNvSpPr>
          <p:nvPr/>
        </p:nvSpPr>
        <p:spPr>
          <a:xfrm xmlns:a="http://schemas.openxmlformats.org/drawingml/2006/main">
            <a:off x="2190750" y="20478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625" b="1">
                <a:solidFill>
                  <a:srgbClr val="172B40"/>
                </a:solidFill>
                <a:latin typeface="Lato"/>
                <a:ea typeface="Lato"/>
                <a:cs typeface="Lato"/>
              </a:defRPr>
            </a:pPr>
            <a:r>
              <a:rPr sz="2625" b="1">
                <a:solidFill>
                  <a:srgbClr val="172B40"/>
                </a:solidFill>
                <a:latin typeface="Lato"/>
                <a:ea typeface="Lato"/>
                <a:cs typeface="Lato"/>
              </a:rPr>
              <a:t>TAKEDOWN</a:t>
            </a:r>
          </a:p>
        </p:txBody>
      </p:sp>
      <p:sp>
        <p:nvSpPr>
          <p:cNvPr id="6" name="">
            <a:extLst xmlns:a="http://schemas.openxmlformats.org/drawingml/2006/main">
              <a:ext uri="{FF2B5EF4-FFF2-40B4-BE49-F238E27FC236}">
                <a16:creationId xmlns:a16="http://schemas.microsoft.com/office/drawing/2014/main" id="{23EDE8E1-211E-4D25-AA67-0F6B649C0356}"/>
              </a:ext>
            </a:extLst>
          </p:cNvPr>
          <p:cNvSpPr>
            <a:spLocks xmlns:a="http://schemas.openxmlformats.org/drawingml/2006/main" noGrp="1"/>
          </p:cNvSpPr>
          <p:nvPr/>
        </p:nvSpPr>
        <p:spPr>
          <a:xfrm xmlns:a="http://schemas.openxmlformats.org/drawingml/2006/main">
            <a:off x="5762625" y="2047875"/>
            <a:ext cx="5476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72B40"/>
                </a:solidFill>
                <a:latin typeface="Lato"/>
                <a:ea typeface="Lato"/>
                <a:cs typeface="Lato"/>
              </a:defRPr>
            </a:pPr>
            <a:r>
              <a:rPr sz="2400" b="0">
                <a:solidFill>
                  <a:srgbClr val="172B40"/>
                </a:solidFill>
                <a:latin typeface="Lato"/>
                <a:ea typeface="Lato"/>
                <a:cs typeface="Lato"/>
              </a:rPr>
              <a:t>Neutral to control on the mat</a:t>
            </a:r>
          </a:p>
        </p:txBody>
      </p:sp>
      <p:sp>
        <p:nvSpPr>
          <p:cNvPr id="7" name="">
            <a:extLst xmlns:a="http://schemas.openxmlformats.org/drawingml/2006/main">
              <a:ext uri="{FF2B5EF4-FFF2-40B4-BE49-F238E27FC236}">
                <a16:creationId xmlns:a16="http://schemas.microsoft.com/office/drawing/2014/main" id="{37F89043-EB82-4453-AF4E-62F3CF707BCF}"/>
              </a:ext>
            </a:extLst>
          </p:cNvPr>
          <p:cNvSpPr>
            <a:spLocks xmlns:a="http://schemas.openxmlformats.org/drawingml/2006/main" noGrp="1"/>
          </p:cNvSpPr>
          <p:nvPr/>
        </p:nvSpPr>
        <p:spPr>
          <a:xfrm xmlns:a="http://schemas.openxmlformats.org/drawingml/2006/main">
            <a:off x="762000" y="3124200"/>
            <a:ext cx="1200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6000" b="1">
                <a:solidFill>
                  <a:srgbClr val="185C91"/>
                </a:solidFill>
                <a:latin typeface="Lato"/>
                <a:ea typeface="Lato"/>
                <a:cs typeface="Lato"/>
              </a:defRPr>
            </a:pPr>
            <a:r>
              <a:rPr sz="6000" b="1">
                <a:solidFill>
                  <a:srgbClr val="185C91"/>
                </a:solidFill>
                <a:latin typeface="Lato"/>
                <a:ea typeface="Lato"/>
                <a:cs typeface="Lato"/>
              </a:rPr>
              <a:t>1</a:t>
            </a:r>
          </a:p>
        </p:txBody>
      </p:sp>
      <p:sp>
        <p:nvSpPr>
          <p:cNvPr id="8" name="">
            <a:extLst xmlns:a="http://schemas.openxmlformats.org/drawingml/2006/main">
              <a:ext uri="{FF2B5EF4-FFF2-40B4-BE49-F238E27FC236}">
                <a16:creationId xmlns:a16="http://schemas.microsoft.com/office/drawing/2014/main" id="{3351B98D-76E7-4A97-9633-7A4CAAB27C55}"/>
              </a:ext>
            </a:extLst>
          </p:cNvPr>
          <p:cNvSpPr>
            <a:spLocks xmlns:a="http://schemas.openxmlformats.org/drawingml/2006/main" noGrp="1"/>
          </p:cNvSpPr>
          <p:nvPr/>
        </p:nvSpPr>
        <p:spPr>
          <a:xfrm xmlns:a="http://schemas.openxmlformats.org/drawingml/2006/main">
            <a:off x="2190750" y="32194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625" b="1">
                <a:solidFill>
                  <a:srgbClr val="172B40"/>
                </a:solidFill>
                <a:latin typeface="Lato"/>
                <a:ea typeface="Lato"/>
                <a:cs typeface="Lato"/>
              </a:defRPr>
            </a:pPr>
            <a:r>
              <a:rPr sz="2625" b="1">
                <a:solidFill>
                  <a:srgbClr val="172B40"/>
                </a:solidFill>
                <a:latin typeface="Lato"/>
                <a:ea typeface="Lato"/>
                <a:cs typeface="Lato"/>
              </a:rPr>
              <a:t>ESCAPE</a:t>
            </a:r>
          </a:p>
        </p:txBody>
      </p:sp>
      <p:sp>
        <p:nvSpPr>
          <p:cNvPr id="9" name="">
            <a:extLst xmlns:a="http://schemas.openxmlformats.org/drawingml/2006/main">
              <a:ext uri="{FF2B5EF4-FFF2-40B4-BE49-F238E27FC236}">
                <a16:creationId xmlns:a16="http://schemas.microsoft.com/office/drawing/2014/main" id="{E0001178-CA11-4625-9726-8B3E22F881E1}"/>
              </a:ext>
            </a:extLst>
          </p:cNvPr>
          <p:cNvSpPr>
            <a:spLocks xmlns:a="http://schemas.openxmlformats.org/drawingml/2006/main" noGrp="1"/>
          </p:cNvSpPr>
          <p:nvPr/>
        </p:nvSpPr>
        <p:spPr>
          <a:xfrm xmlns:a="http://schemas.openxmlformats.org/drawingml/2006/main">
            <a:off x="5762625" y="3219450"/>
            <a:ext cx="5476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72B40"/>
                </a:solidFill>
                <a:latin typeface="Lato"/>
                <a:ea typeface="Lato"/>
                <a:cs typeface="Lato"/>
              </a:defRPr>
            </a:pPr>
            <a:r>
              <a:rPr sz="2400" b="0">
                <a:solidFill>
                  <a:srgbClr val="172B40"/>
                </a:solidFill>
                <a:latin typeface="Lato"/>
                <a:ea typeface="Lato"/>
                <a:cs typeface="Lato"/>
              </a:rPr>
              <a:t>Bottom to neutral</a:t>
            </a:r>
          </a:p>
        </p:txBody>
      </p:sp>
      <p:sp>
        <p:nvSpPr>
          <p:cNvPr id="10" name="">
            <a:extLst xmlns:a="http://schemas.openxmlformats.org/drawingml/2006/main">
              <a:ext uri="{FF2B5EF4-FFF2-40B4-BE49-F238E27FC236}">
                <a16:creationId xmlns:a16="http://schemas.microsoft.com/office/drawing/2014/main" id="{CF5068AF-41AB-4A61-B1CC-3189D71AACA0}"/>
              </a:ext>
            </a:extLst>
          </p:cNvPr>
          <p:cNvSpPr>
            <a:spLocks xmlns:a="http://schemas.openxmlformats.org/drawingml/2006/main" noGrp="1"/>
          </p:cNvSpPr>
          <p:nvPr/>
        </p:nvSpPr>
        <p:spPr>
          <a:xfrm xmlns:a="http://schemas.openxmlformats.org/drawingml/2006/main">
            <a:off x="762000" y="4295775"/>
            <a:ext cx="1200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6000" b="1">
                <a:solidFill>
                  <a:srgbClr val="185C91"/>
                </a:solidFill>
                <a:latin typeface="Lato"/>
                <a:ea typeface="Lato"/>
                <a:cs typeface="Lato"/>
              </a:defRPr>
            </a:pPr>
            <a:r>
              <a:rPr sz="6000" b="1">
                <a:solidFill>
                  <a:srgbClr val="185C91"/>
                </a:solidFill>
                <a:latin typeface="Lato"/>
                <a:ea typeface="Lato"/>
                <a:cs typeface="Lato"/>
              </a:rPr>
              <a:t>2</a:t>
            </a:r>
          </a:p>
        </p:txBody>
      </p:sp>
      <p:sp>
        <p:nvSpPr>
          <p:cNvPr id="11" name="">
            <a:extLst xmlns:a="http://schemas.openxmlformats.org/drawingml/2006/main">
              <a:ext uri="{FF2B5EF4-FFF2-40B4-BE49-F238E27FC236}">
                <a16:creationId xmlns:a16="http://schemas.microsoft.com/office/drawing/2014/main" id="{5D55570D-7D0D-4C67-8D85-DD034F385D0A}"/>
              </a:ext>
            </a:extLst>
          </p:cNvPr>
          <p:cNvSpPr>
            <a:spLocks xmlns:a="http://schemas.openxmlformats.org/drawingml/2006/main" noGrp="1"/>
          </p:cNvSpPr>
          <p:nvPr/>
        </p:nvSpPr>
        <p:spPr>
          <a:xfrm xmlns:a="http://schemas.openxmlformats.org/drawingml/2006/main">
            <a:off x="2190750" y="43910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625" b="1">
                <a:solidFill>
                  <a:srgbClr val="172B40"/>
                </a:solidFill>
                <a:latin typeface="Lato"/>
                <a:ea typeface="Lato"/>
                <a:cs typeface="Lato"/>
              </a:defRPr>
            </a:pPr>
            <a:r>
              <a:rPr sz="2625" b="1">
                <a:solidFill>
                  <a:srgbClr val="172B40"/>
                </a:solidFill>
                <a:latin typeface="Lato"/>
                <a:ea typeface="Lato"/>
                <a:cs typeface="Lato"/>
              </a:rPr>
              <a:t>REVERSAL</a:t>
            </a:r>
          </a:p>
        </p:txBody>
      </p:sp>
      <p:sp>
        <p:nvSpPr>
          <p:cNvPr id="12" name="">
            <a:extLst xmlns:a="http://schemas.openxmlformats.org/drawingml/2006/main">
              <a:ext uri="{FF2B5EF4-FFF2-40B4-BE49-F238E27FC236}">
                <a16:creationId xmlns:a16="http://schemas.microsoft.com/office/drawing/2014/main" id="{F6E29A8D-53AA-4A2F-A060-8B9796E10AE4}"/>
              </a:ext>
            </a:extLst>
          </p:cNvPr>
          <p:cNvSpPr>
            <a:spLocks xmlns:a="http://schemas.openxmlformats.org/drawingml/2006/main" noGrp="1"/>
          </p:cNvSpPr>
          <p:nvPr/>
        </p:nvSpPr>
        <p:spPr>
          <a:xfrm xmlns:a="http://schemas.openxmlformats.org/drawingml/2006/main">
            <a:off x="5762625" y="4391025"/>
            <a:ext cx="5476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72B40"/>
                </a:solidFill>
                <a:latin typeface="Lato"/>
                <a:ea typeface="Lato"/>
                <a:cs typeface="Lato"/>
              </a:defRPr>
            </a:pPr>
            <a:r>
              <a:rPr sz="2400" b="0">
                <a:solidFill>
                  <a:srgbClr val="172B40"/>
                </a:solidFill>
                <a:latin typeface="Lato"/>
                <a:ea typeface="Lato"/>
                <a:cs typeface="Lato"/>
              </a:rPr>
              <a:t>Bottom directly to control</a:t>
            </a:r>
          </a:p>
        </p:txBody>
      </p:sp>
      <p:sp>
        <p:nvSpPr>
          <p:cNvPr id="13" name="">
            <a:extLst xmlns:a="http://schemas.openxmlformats.org/drawingml/2006/main">
              <a:ext uri="{FF2B5EF4-FFF2-40B4-BE49-F238E27FC236}">
                <a16:creationId xmlns:a16="http://schemas.microsoft.com/office/drawing/2014/main" id="{52900170-F363-46C1-8732-A89C35715912}"/>
              </a:ext>
            </a:extLst>
          </p:cNvPr>
          <p:cNvSpPr>
            <a:spLocks xmlns:a="http://schemas.openxmlformats.org/drawingml/2006/main" noGrp="1"/>
          </p:cNvSpPr>
          <p:nvPr/>
        </p:nvSpPr>
        <p:spPr>
          <a:xfrm xmlns:a="http://schemas.openxmlformats.org/drawingml/2006/main">
            <a:off x="685800" y="5857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85C91"/>
                </a:solidFill>
                <a:latin typeface="Lato"/>
                <a:ea typeface="Lato"/>
                <a:cs typeface="Lato"/>
              </a:defRPr>
            </a:pPr>
            <a:r>
              <a:rPr sz="1875" b="1">
                <a:solidFill>
                  <a:srgbClr val="185C91"/>
                </a:solidFill>
                <a:latin typeface="Lato"/>
                <a:ea typeface="Lato"/>
                <a:cs typeface="Lato"/>
              </a:rPr>
              <a:t>A reversal earns 2. It does not also earn an escape point.</a:t>
            </a:r>
          </a:p>
        </p:txBody>
      </p:sp>
    </p:spTree>
    <p:extLst>
      <p:ext uri="{BB962C8B-B14F-4D97-AF65-F5344CB8AC3E}">
        <p14:creationId xmlns:p14="http://schemas.microsoft.com/office/powerpoint/2010/main" val="847724659"/>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9EC13D2-C6C4-4F64-86C0-F4E4F3CF3D72}"/>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72B40"/>
                </a:solidFill>
                <a:latin typeface="Lato"/>
                <a:ea typeface="Lato"/>
                <a:cs typeface="Lato"/>
              </a:defRPr>
            </a:pPr>
            <a:r>
              <a:rPr sz="3600" b="1">
                <a:solidFill>
                  <a:srgbClr val="172B40"/>
                </a:solidFill>
                <a:latin typeface="Lato"/>
                <a:ea typeface="Lato"/>
                <a:cs typeface="Lato"/>
              </a:rPr>
              <a:t>Near fall and pin</a:t>
            </a:r>
          </a:p>
        </p:txBody>
      </p:sp>
      <p:sp>
        <p:nvSpPr>
          <p:cNvPr id="2" name="">
            <a:extLst xmlns:a="http://schemas.openxmlformats.org/drawingml/2006/main">
              <a:ext uri="{FF2B5EF4-FFF2-40B4-BE49-F238E27FC236}">
                <a16:creationId xmlns:a16="http://schemas.microsoft.com/office/drawing/2014/main" id="{23AFDCE8-2E0C-4358-9425-C184D4888CA5}"/>
              </a:ext>
            </a:extLst>
          </p:cNvPr>
          <p:cNvSpPr>
            <a:spLocks xmlns:a="http://schemas.openxmlformats.org/drawingml/2006/main" noGrp="1"/>
          </p:cNvSpPr>
          <p:nvPr/>
        </p:nvSpPr>
        <p:spPr>
          <a:xfrm xmlns:a="http://schemas.openxmlformats.org/drawingml/2006/main">
            <a:off x="11239500" y="6305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86177"/>
                </a:solidFill>
                <a:latin typeface="Lato"/>
                <a:ea typeface="Lato"/>
                <a:cs typeface="Lato"/>
              </a:defRPr>
            </a:pPr>
            <a:r>
              <a:rPr sz="1350" b="0">
                <a:solidFill>
                  <a:srgbClr val="486177"/>
                </a:solidFill>
                <a:latin typeface="Lato"/>
                <a:ea typeface="Lato"/>
                <a:cs typeface="Lato"/>
              </a:rPr>
              <a:t>05</a:t>
            </a:r>
          </a:p>
        </p:txBody>
      </p:sp>
      <p:sp>
        <p:nvSpPr>
          <p:cNvPr id="3" name="">
            <a:extLst xmlns:a="http://schemas.openxmlformats.org/drawingml/2006/main">
              <a:ext uri="{FF2B5EF4-FFF2-40B4-BE49-F238E27FC236}">
                <a16:creationId xmlns:a16="http://schemas.microsoft.com/office/drawing/2014/main" id="{31597CCE-47F5-4860-A6D4-5CA9818DF2EF}"/>
              </a:ext>
            </a:extLst>
          </p:cNvPr>
          <p:cNvSpPr>
            <a:spLocks xmlns:a="http://schemas.openxmlformats.org/drawingml/2006/main" noGrp="1"/>
          </p:cNvSpPr>
          <p:nvPr/>
        </p:nvSpPr>
        <p:spPr>
          <a:xfrm xmlns:a="http://schemas.openxmlformats.org/drawingml/2006/main">
            <a:off x="685800" y="1619250"/>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185C91"/>
                </a:solidFill>
                <a:latin typeface="Lato"/>
                <a:ea typeface="Lato"/>
                <a:cs typeface="Lato"/>
              </a:defRPr>
            </a:pPr>
            <a:r>
              <a:rPr sz="2250" b="1">
                <a:solidFill>
                  <a:srgbClr val="185C91"/>
                </a:solidFill>
                <a:latin typeface="Lato"/>
                <a:ea typeface="Lato"/>
                <a:cs typeface="Lato"/>
              </a:rPr>
              <a:t>NEAR FALL POINTS</a:t>
            </a:r>
          </a:p>
        </p:txBody>
      </p:sp>
      <p:sp>
        <p:nvSpPr>
          <p:cNvPr id="4" name="">
            <a:extLst xmlns:a="http://schemas.openxmlformats.org/drawingml/2006/main">
              <a:ext uri="{FF2B5EF4-FFF2-40B4-BE49-F238E27FC236}">
                <a16:creationId xmlns:a16="http://schemas.microsoft.com/office/drawing/2014/main" id="{D5D4E989-C4F2-4470-A353-87299AE83114}"/>
              </a:ext>
            </a:extLst>
          </p:cNvPr>
          <p:cNvSpPr>
            <a:spLocks xmlns:a="http://schemas.openxmlformats.org/drawingml/2006/main" noGrp="1"/>
          </p:cNvSpPr>
          <p:nvPr/>
        </p:nvSpPr>
        <p:spPr>
          <a:xfrm xmlns:a="http://schemas.openxmlformats.org/drawingml/2006/main">
            <a:off x="685800" y="2219325"/>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75" b="1">
                <a:solidFill>
                  <a:srgbClr val="172B40"/>
                </a:solidFill>
                <a:latin typeface="Lato"/>
                <a:ea typeface="Lato"/>
                <a:cs typeface="Lato"/>
              </a:defRPr>
            </a:pPr>
            <a:r>
              <a:rPr sz="3675" b="1">
                <a:solidFill>
                  <a:srgbClr val="172B40"/>
                </a:solidFill>
                <a:latin typeface="Lato"/>
                <a:ea typeface="Lato"/>
                <a:cs typeface="Lato"/>
              </a:rPr>
              <a:t>Usually 2, 3 or 4</a:t>
            </a:r>
          </a:p>
        </p:txBody>
      </p:sp>
      <p:sp>
        <p:nvSpPr>
          <p:cNvPr id="5" name="">
            <a:extLst xmlns:a="http://schemas.openxmlformats.org/drawingml/2006/main">
              <a:ext uri="{FF2B5EF4-FFF2-40B4-BE49-F238E27FC236}">
                <a16:creationId xmlns:a16="http://schemas.microsoft.com/office/drawing/2014/main" id="{9296F908-8DCE-4E88-BA24-22D21C76AC81}"/>
              </a:ext>
            </a:extLst>
          </p:cNvPr>
          <p:cNvSpPr>
            <a:spLocks xmlns:a="http://schemas.openxmlformats.org/drawingml/2006/main" noGrp="1"/>
          </p:cNvSpPr>
          <p:nvPr/>
        </p:nvSpPr>
        <p:spPr>
          <a:xfrm xmlns:a="http://schemas.openxmlformats.org/drawingml/2006/main">
            <a:off x="685800" y="3381375"/>
            <a:ext cx="50482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72B40"/>
                </a:solidFill>
                <a:latin typeface="Lato"/>
                <a:ea typeface="Lato"/>
                <a:cs typeface="Lato"/>
              </a:defRPr>
            </a:pPr>
            <a:r>
              <a:rPr sz="2175" b="0">
                <a:solidFill>
                  <a:srgbClr val="172B40"/>
                </a:solidFill>
                <a:latin typeface="Lato"/>
                <a:ea typeface="Lato"/>
                <a:cs typeface="Lato"/>
              </a:rPr>
              <a:t>Referee counts qualifying back exposure:</a:t>
            </a:r>
          </a:p>
          <a:p xmlns:a="http://schemas.openxmlformats.org/drawingml/2006/main">
            <a:pPr>
              <a:buNone/>
              <a:defRPr sz="2175" b="0">
                <a:solidFill>
                  <a:srgbClr val="172B40"/>
                </a:solidFill>
                <a:latin typeface="Lato"/>
                <a:ea typeface="Lato"/>
                <a:cs typeface="Lato"/>
              </a:defRPr>
            </a:pPr>
            <a:r>
              <a:rPr sz="2175" b="0">
                <a:solidFill>
                  <a:srgbClr val="172B40"/>
                </a:solidFill>
                <a:latin typeface="Lato"/>
                <a:ea typeface="Lato"/>
                <a:cs typeface="Lato"/>
              </a:rPr>
              <a:t>2 seconds = 2 points</a:t>
            </a:r>
          </a:p>
          <a:p xmlns:a="http://schemas.openxmlformats.org/drawingml/2006/main">
            <a:pPr>
              <a:buNone/>
              <a:defRPr sz="2175" b="0">
                <a:solidFill>
                  <a:srgbClr val="172B40"/>
                </a:solidFill>
                <a:latin typeface="Lato"/>
                <a:ea typeface="Lato"/>
                <a:cs typeface="Lato"/>
              </a:defRPr>
            </a:pPr>
            <a:r>
              <a:rPr sz="2175" b="0">
                <a:solidFill>
                  <a:srgbClr val="172B40"/>
                </a:solidFill>
                <a:latin typeface="Lato"/>
                <a:ea typeface="Lato"/>
                <a:cs typeface="Lato"/>
              </a:rPr>
              <a:t>3 seconds = 3 points</a:t>
            </a:r>
          </a:p>
          <a:p xmlns:a="http://schemas.openxmlformats.org/drawingml/2006/main">
            <a:pPr>
              <a:buNone/>
              <a:defRPr sz="2175" b="0">
                <a:solidFill>
                  <a:srgbClr val="172B40"/>
                </a:solidFill>
                <a:latin typeface="Lato"/>
                <a:ea typeface="Lato"/>
                <a:cs typeface="Lato"/>
              </a:defRPr>
            </a:pPr>
            <a:r>
              <a:rPr sz="2175" b="0">
                <a:solidFill>
                  <a:srgbClr val="172B40"/>
                </a:solidFill>
                <a:latin typeface="Lato"/>
                <a:ea typeface="Lato"/>
                <a:cs typeface="Lato"/>
              </a:rPr>
              <a:t>4 seconds = 4 points</a:t>
            </a:r>
          </a:p>
        </p:txBody>
      </p:sp>
      <p:sp>
        <p:nvSpPr>
          <p:cNvPr id="6" name="">
            <a:extLst xmlns:a="http://schemas.openxmlformats.org/drawingml/2006/main">
              <a:ext uri="{FF2B5EF4-FFF2-40B4-BE49-F238E27FC236}">
                <a16:creationId xmlns:a16="http://schemas.microsoft.com/office/drawing/2014/main" id="{35143A7F-AEA5-41C8-8860-9DE4BD92C30A}"/>
              </a:ext>
            </a:extLst>
          </p:cNvPr>
          <p:cNvSpPr>
            <a:spLocks xmlns:a="http://schemas.openxmlformats.org/drawingml/2006/main" noGrp="1"/>
          </p:cNvSpPr>
          <p:nvPr/>
        </p:nvSpPr>
        <p:spPr>
          <a:xfrm xmlns:a="http://schemas.openxmlformats.org/drawingml/2006/main">
            <a:off x="6410325" y="1619250"/>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185C91"/>
                </a:solidFill>
                <a:latin typeface="Lato"/>
                <a:ea typeface="Lato"/>
                <a:cs typeface="Lato"/>
              </a:defRPr>
            </a:pPr>
            <a:r>
              <a:rPr sz="2250" b="1">
                <a:solidFill>
                  <a:srgbClr val="185C91"/>
                </a:solidFill>
                <a:latin typeface="Lato"/>
                <a:ea typeface="Lato"/>
                <a:cs typeface="Lato"/>
              </a:rPr>
              <a:t>PIN or FALL</a:t>
            </a:r>
          </a:p>
        </p:txBody>
      </p:sp>
      <p:sp>
        <p:nvSpPr>
          <p:cNvPr id="7" name="">
            <a:extLst xmlns:a="http://schemas.openxmlformats.org/drawingml/2006/main">
              <a:ext uri="{FF2B5EF4-FFF2-40B4-BE49-F238E27FC236}">
                <a16:creationId xmlns:a16="http://schemas.microsoft.com/office/drawing/2014/main" id="{3E9A878A-E29F-4ECB-9C31-505784602DC3}"/>
              </a:ext>
            </a:extLst>
          </p:cNvPr>
          <p:cNvSpPr>
            <a:spLocks xmlns:a="http://schemas.openxmlformats.org/drawingml/2006/main" noGrp="1"/>
          </p:cNvSpPr>
          <p:nvPr/>
        </p:nvSpPr>
        <p:spPr>
          <a:xfrm xmlns:a="http://schemas.openxmlformats.org/drawingml/2006/main">
            <a:off x="6410325" y="2219325"/>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75" b="1">
                <a:solidFill>
                  <a:srgbClr val="172B40"/>
                </a:solidFill>
                <a:latin typeface="Lato"/>
                <a:ea typeface="Lato"/>
                <a:cs typeface="Lato"/>
              </a:defRPr>
            </a:pPr>
            <a:r>
              <a:rPr sz="3675" b="1">
                <a:solidFill>
                  <a:srgbClr val="172B40"/>
                </a:solidFill>
                <a:latin typeface="Lato"/>
                <a:ea typeface="Lato"/>
                <a:cs typeface="Lato"/>
              </a:rPr>
              <a:t>The match ends</a:t>
            </a:r>
          </a:p>
        </p:txBody>
      </p:sp>
      <p:sp>
        <p:nvSpPr>
          <p:cNvPr id="8" name="">
            <a:extLst xmlns:a="http://schemas.openxmlformats.org/drawingml/2006/main">
              <a:ext uri="{FF2B5EF4-FFF2-40B4-BE49-F238E27FC236}">
                <a16:creationId xmlns:a16="http://schemas.microsoft.com/office/drawing/2014/main" id="{27E69642-DD65-43E8-8BD0-81C48D9628FC}"/>
              </a:ext>
            </a:extLst>
          </p:cNvPr>
          <p:cNvSpPr>
            <a:spLocks xmlns:a="http://schemas.openxmlformats.org/drawingml/2006/main" noGrp="1"/>
          </p:cNvSpPr>
          <p:nvPr/>
        </p:nvSpPr>
        <p:spPr>
          <a:xfrm xmlns:a="http://schemas.openxmlformats.org/drawingml/2006/main">
            <a:off x="6410325" y="3381375"/>
            <a:ext cx="50482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72B40"/>
                </a:solidFill>
                <a:latin typeface="Lato"/>
                <a:ea typeface="Lato"/>
                <a:cs typeface="Lato"/>
              </a:defRPr>
            </a:pPr>
            <a:r>
              <a:rPr sz="2175" b="0">
                <a:solidFill>
                  <a:srgbClr val="172B40"/>
                </a:solidFill>
                <a:latin typeface="Lato"/>
                <a:ea typeface="Lato"/>
                <a:cs typeface="Lato"/>
              </a:rPr>
              <a:t>Both shoulders or shoulder blades held</a:t>
            </a:r>
          </a:p>
          <a:p xmlns:a="http://schemas.openxmlformats.org/drawingml/2006/main">
            <a:pPr>
              <a:buNone/>
              <a:defRPr sz="2175" b="0">
                <a:solidFill>
                  <a:srgbClr val="172B40"/>
                </a:solidFill>
                <a:latin typeface="Lato"/>
                <a:ea typeface="Lato"/>
                <a:cs typeface="Lato"/>
              </a:defRPr>
            </a:pPr>
            <a:r>
              <a:rPr sz="2175" b="0">
                <a:solidFill>
                  <a:srgbClr val="172B40"/>
                </a:solidFill>
                <a:latin typeface="Lato"/>
                <a:ea typeface="Lato"/>
                <a:cs typeface="Lato"/>
              </a:rPr>
              <a:t>to the mat for 2 seconds under</a:t>
            </a:r>
          </a:p>
          <a:p xmlns:a="http://schemas.openxmlformats.org/drawingml/2006/main">
            <a:pPr>
              <a:buNone/>
              <a:defRPr sz="2175" b="0">
                <a:solidFill>
                  <a:srgbClr val="172B40"/>
                </a:solidFill>
                <a:latin typeface="Lato"/>
                <a:ea typeface="Lato"/>
                <a:cs typeface="Lato"/>
              </a:defRPr>
            </a:pPr>
            <a:r>
              <a:rPr sz="2175" b="0">
                <a:solidFill>
                  <a:srgbClr val="172B40"/>
                </a:solidFill>
                <a:latin typeface="Lato"/>
                <a:ea typeface="Lato"/>
                <a:cs typeface="Lato"/>
              </a:rPr>
              <a:t>standard NFHS folkstyle rules</a:t>
            </a:r>
          </a:p>
        </p:txBody>
      </p:sp>
      <p:sp>
        <p:nvSpPr>
          <p:cNvPr id="9" name="">
            <a:extLst xmlns:a="http://schemas.openxmlformats.org/drawingml/2006/main">
              <a:ext uri="{FF2B5EF4-FFF2-40B4-BE49-F238E27FC236}">
                <a16:creationId xmlns:a16="http://schemas.microsoft.com/office/drawing/2014/main" id="{883C0747-A5ED-49FE-8C61-70E78FC6DD5E}"/>
              </a:ext>
            </a:extLst>
          </p:cNvPr>
          <p:cNvSpPr>
            <a:spLocks xmlns:a="http://schemas.openxmlformats.org/drawingml/2006/main" noGrp="1"/>
          </p:cNvSpPr>
          <p:nvPr/>
        </p:nvSpPr>
        <p:spPr>
          <a:xfrm xmlns:a="http://schemas.openxmlformats.org/drawingml/2006/main">
            <a:off x="685800" y="534352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486177"/>
                </a:solidFill>
                <a:latin typeface="Lato"/>
                <a:ea typeface="Lato"/>
                <a:cs typeface="Lato"/>
              </a:defRPr>
            </a:pPr>
            <a:r>
              <a:rPr sz="1500" b="0">
                <a:solidFill>
                  <a:srgbClr val="486177"/>
                </a:solidFill>
                <a:latin typeface="Lato"/>
                <a:ea typeface="Lato"/>
                <a:cs typeface="Lato"/>
              </a:rPr>
              <a:t>Near-fall values shown are the ordinary awards.</a:t>
            </a:r>
          </a:p>
        </p:txBody>
      </p:sp>
      <p:sp>
        <p:nvSpPr>
          <p:cNvPr id="10" name="">
            <a:extLst xmlns:a="http://schemas.openxmlformats.org/drawingml/2006/main">
              <a:ext uri="{FF2B5EF4-FFF2-40B4-BE49-F238E27FC236}">
                <a16:creationId xmlns:a16="http://schemas.microsoft.com/office/drawing/2014/main" id="{56EF820C-3091-4AFA-95EC-FE187141A998}"/>
              </a:ext>
            </a:extLst>
          </p:cNvPr>
          <p:cNvSpPr>
            <a:spLocks xmlns:a="http://schemas.openxmlformats.org/drawingml/2006/main" noGrp="1"/>
          </p:cNvSpPr>
          <p:nvPr/>
        </p:nvSpPr>
        <p:spPr>
          <a:xfrm xmlns:a="http://schemas.openxmlformats.org/drawingml/2006/main">
            <a:off x="685800" y="5857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85C91"/>
                </a:solidFill>
                <a:latin typeface="Lato"/>
                <a:ea typeface="Lato"/>
                <a:cs typeface="Lato"/>
              </a:defRPr>
            </a:pPr>
            <a:r>
              <a:rPr sz="1875" b="1">
                <a:solidFill>
                  <a:srgbClr val="185C91"/>
                </a:solidFill>
                <a:latin typeface="Lato"/>
                <a:ea typeface="Lato"/>
                <a:cs typeface="Lato"/>
              </a:rPr>
              <a:t>A pin wins even when the wrestler is behind on points.</a:t>
            </a:r>
          </a:p>
        </p:txBody>
      </p:sp>
    </p:spTree>
    <p:extLst>
      <p:ext uri="{BB962C8B-B14F-4D97-AF65-F5344CB8AC3E}">
        <p14:creationId xmlns:p14="http://schemas.microsoft.com/office/powerpoint/2010/main" val="1968603762"/>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88BDB9-71E0-48C5-BF49-01B8BD8269FD}"/>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72B40"/>
                </a:solidFill>
                <a:latin typeface="Lato"/>
                <a:ea typeface="Lato"/>
                <a:cs typeface="Lato"/>
              </a:defRPr>
            </a:pPr>
            <a:r>
              <a:rPr sz="3600" b="1">
                <a:solidFill>
                  <a:srgbClr val="172B40"/>
                </a:solidFill>
                <a:latin typeface="Lato"/>
                <a:ea typeface="Lato"/>
                <a:cs typeface="Lato"/>
              </a:rPr>
              <a:t>One match in four scoring actions</a:t>
            </a:r>
          </a:p>
        </p:txBody>
      </p:sp>
      <p:sp>
        <p:nvSpPr>
          <p:cNvPr id="2" name="">
            <a:extLst xmlns:a="http://schemas.openxmlformats.org/drawingml/2006/main">
              <a:ext uri="{FF2B5EF4-FFF2-40B4-BE49-F238E27FC236}">
                <a16:creationId xmlns:a16="http://schemas.microsoft.com/office/drawing/2014/main" id="{5B64647D-8BDF-404E-825C-7AAA9096103F}"/>
              </a:ext>
            </a:extLst>
          </p:cNvPr>
          <p:cNvSpPr>
            <a:spLocks xmlns:a="http://schemas.openxmlformats.org/drawingml/2006/main" noGrp="1"/>
          </p:cNvSpPr>
          <p:nvPr/>
        </p:nvSpPr>
        <p:spPr>
          <a:xfrm xmlns:a="http://schemas.openxmlformats.org/drawingml/2006/main">
            <a:off x="11239500" y="6305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86177"/>
                </a:solidFill>
                <a:latin typeface="Lato"/>
                <a:ea typeface="Lato"/>
                <a:cs typeface="Lato"/>
              </a:defRPr>
            </a:pPr>
            <a:r>
              <a:rPr sz="1350" b="0">
                <a:solidFill>
                  <a:srgbClr val="486177"/>
                </a:solidFill>
                <a:latin typeface="Lato"/>
                <a:ea typeface="Lato"/>
                <a:cs typeface="Lato"/>
              </a:rPr>
              <a:t>06</a:t>
            </a:r>
          </a:p>
        </p:txBody>
      </p:sp>
      <p:graphicFrame>
        <p:nvGraphicFramePr>
          <p:cNvPr id="9" name=""/>
          <p:cNvGraphicFramePr/>
          <p:nvPr/>
        </p:nvGraphicFramePr>
        <p:xfrm>
          <a:off xmlns:a="http://schemas.openxmlformats.org/drawingml/2006/main" x="685800" y="1695450"/>
          <a:ext xmlns:a="http://schemas.openxmlformats.org/drawingml/2006/main" cx="10820400" cy="3695700"/>
        </p:xfrm>
        <a:graphic xmlns:a="http://schemas.openxmlformats.org/drawingml/2006/main">
          <a:graphicData uri="http://schemas.openxmlformats.org/drawingml/2006/table">
            <a:tbl>
              <a:tblPr/>
              <a:tblGrid>
                <a:gridCol w="7296150"/>
                <a:gridCol w="1762125"/>
                <a:gridCol w="1762125"/>
              </a:tblGrid>
              <a:tr h="739140">
                <a:tc>
                  <a:txBody>
                    <a:bodyPr/>
                    <a:lstStyle/>
                    <a:p>
                      <a:pPr algn="l">
                        <a:buNone/>
                      </a:pPr>
                      <a:r>
                        <a:rPr sz="1725" b="1">
                          <a:solidFill>
                            <a:srgbClr val="FFFFFF"/>
                          </a:solidFill>
                          <a:latin typeface="Lato"/>
                          <a:ea typeface="Lato"/>
                          <a:cs typeface="Lato"/>
                        </a:rPr>
                        <a:t>ACTION</a:t>
                      </a:r>
                    </a:p>
                  </a:txBody>
                  <a:tcPr marL="152400" marR="152400" marT="95250" marB="95250" anchor="ctr">
                    <a:solidFill>
                      <a:srgbClr val="172B40"/>
                    </a:solidFill>
                  </a:tcPr>
                </a:tc>
                <a:tc>
                  <a:txBody>
                    <a:bodyPr/>
                    <a:lstStyle/>
                    <a:p>
                      <a:pPr algn="ctr">
                        <a:buNone/>
                      </a:pPr>
                      <a:r>
                        <a:rPr sz="1875" b="1">
                          <a:solidFill>
                            <a:srgbClr val="FFFFFF"/>
                          </a:solidFill>
                          <a:latin typeface="Lato"/>
                          <a:ea typeface="Lato"/>
                          <a:cs typeface="Lato"/>
                        </a:rPr>
                        <a:t>GREEN</a:t>
                      </a:r>
                    </a:p>
                  </a:txBody>
                  <a:tcPr marL="152400" marR="152400" marT="95250" marB="95250" anchor="ctr">
                    <a:solidFill>
                      <a:srgbClr val="172B40"/>
                    </a:solidFill>
                  </a:tcPr>
                </a:tc>
                <a:tc>
                  <a:txBody>
                    <a:bodyPr/>
                    <a:lstStyle/>
                    <a:p>
                      <a:pPr algn="ctr">
                        <a:buNone/>
                      </a:pPr>
                      <a:r>
                        <a:rPr sz="1875" b="1">
                          <a:solidFill>
                            <a:srgbClr val="FFFFFF"/>
                          </a:solidFill>
                          <a:latin typeface="Lato"/>
                          <a:ea typeface="Lato"/>
                          <a:cs typeface="Lato"/>
                        </a:rPr>
                        <a:t>RED</a:t>
                      </a:r>
                    </a:p>
                  </a:txBody>
                  <a:tcPr marL="152400" marR="152400" marT="95250" marB="95250" anchor="ctr">
                    <a:solidFill>
                      <a:srgbClr val="172B40"/>
                    </a:solidFill>
                  </a:tcPr>
                </a:tc>
              </a:tr>
              <a:tr h="739140">
                <a:tc>
                  <a:txBody>
                    <a:bodyPr/>
                    <a:lstStyle/>
                    <a:p>
                      <a:pPr algn="l">
                        <a:buNone/>
                      </a:pPr>
                      <a:r>
                        <a:rPr sz="2175" b="0">
                          <a:solidFill>
                            <a:srgbClr val="172B40"/>
                          </a:solidFill>
                          <a:latin typeface="Lato"/>
                          <a:ea typeface="Lato"/>
                          <a:cs typeface="Lato"/>
                        </a:rPr>
                        <a:t>Green earns a takedown</a:t>
                      </a:r>
                    </a:p>
                  </a:txBody>
                  <a:tcPr marL="152400" marR="152400" marT="95250" marB="95250" anchor="ctr">
                    <a:solidFill>
                      <a:srgbClr val="EAF1F6"/>
                    </a:solidFill>
                  </a:tcPr>
                </a:tc>
                <a:tc>
                  <a:txBody>
                    <a:bodyPr/>
                    <a:lstStyle/>
                    <a:p>
                      <a:pPr algn="ctr">
                        <a:buNone/>
                      </a:pPr>
                      <a:r>
                        <a:rPr sz="2850" b="1">
                          <a:solidFill>
                            <a:srgbClr val="116644"/>
                          </a:solidFill>
                          <a:latin typeface="Lato"/>
                          <a:ea typeface="Lato"/>
                          <a:cs typeface="Lato"/>
                        </a:rPr>
                        <a:t>3</a:t>
                      </a:r>
                    </a:p>
                  </a:txBody>
                  <a:tcPr marL="152400" marR="152400" marT="95250" marB="95250" anchor="ctr">
                    <a:solidFill>
                      <a:srgbClr val="EAF1F6"/>
                    </a:solidFill>
                  </a:tcPr>
                </a:tc>
                <a:tc>
                  <a:txBody>
                    <a:bodyPr/>
                    <a:lstStyle/>
                    <a:p>
                      <a:pPr algn="ctr">
                        <a:buNone/>
                      </a:pPr>
                      <a:r>
                        <a:rPr sz="2850" b="1">
                          <a:solidFill>
                            <a:srgbClr val="B42D37"/>
                          </a:solidFill>
                          <a:latin typeface="Lato"/>
                          <a:ea typeface="Lato"/>
                          <a:cs typeface="Lato"/>
                        </a:rPr>
                        <a:t>0</a:t>
                      </a:r>
                    </a:p>
                  </a:txBody>
                  <a:tcPr marL="152400" marR="152400" marT="95250" marB="95250" anchor="ctr">
                    <a:solidFill>
                      <a:srgbClr val="EAF1F6"/>
                    </a:solidFill>
                  </a:tcPr>
                </a:tc>
              </a:tr>
              <a:tr h="739140">
                <a:tc>
                  <a:txBody>
                    <a:bodyPr/>
                    <a:lstStyle/>
                    <a:p>
                      <a:pPr algn="l">
                        <a:buNone/>
                      </a:pPr>
                      <a:r>
                        <a:rPr sz="2175" b="0">
                          <a:solidFill>
                            <a:srgbClr val="172B40"/>
                          </a:solidFill>
                          <a:latin typeface="Lato"/>
                          <a:ea typeface="Lato"/>
                          <a:cs typeface="Lato"/>
                        </a:rPr>
                        <a:t>Red escapes</a:t>
                      </a:r>
                    </a:p>
                  </a:txBody>
                  <a:tcPr marL="152400" marR="152400" marT="95250" marB="95250" anchor="ctr">
                    <a:solidFill>
                      <a:srgbClr val="FAFBFC"/>
                    </a:solidFill>
                  </a:tcPr>
                </a:tc>
                <a:tc>
                  <a:txBody>
                    <a:bodyPr/>
                    <a:lstStyle/>
                    <a:p>
                      <a:pPr algn="ctr">
                        <a:buNone/>
                      </a:pPr>
                      <a:r>
                        <a:rPr sz="2850" b="1">
                          <a:solidFill>
                            <a:srgbClr val="116644"/>
                          </a:solidFill>
                          <a:latin typeface="Lato"/>
                          <a:ea typeface="Lato"/>
                          <a:cs typeface="Lato"/>
                        </a:rPr>
                        <a:t>3</a:t>
                      </a:r>
                    </a:p>
                  </a:txBody>
                  <a:tcPr marL="152400" marR="152400" marT="95250" marB="95250" anchor="ctr">
                    <a:solidFill>
                      <a:srgbClr val="FAFBFC"/>
                    </a:solidFill>
                  </a:tcPr>
                </a:tc>
                <a:tc>
                  <a:txBody>
                    <a:bodyPr/>
                    <a:lstStyle/>
                    <a:p>
                      <a:pPr algn="ctr">
                        <a:buNone/>
                      </a:pPr>
                      <a:r>
                        <a:rPr sz="2850" b="1">
                          <a:solidFill>
                            <a:srgbClr val="B42D37"/>
                          </a:solidFill>
                          <a:latin typeface="Lato"/>
                          <a:ea typeface="Lato"/>
                          <a:cs typeface="Lato"/>
                        </a:rPr>
                        <a:t>1</a:t>
                      </a:r>
                    </a:p>
                  </a:txBody>
                  <a:tcPr marL="152400" marR="152400" marT="95250" marB="95250" anchor="ctr">
                    <a:solidFill>
                      <a:srgbClr val="FAFBFC"/>
                    </a:solidFill>
                  </a:tcPr>
                </a:tc>
              </a:tr>
              <a:tr h="739140">
                <a:tc>
                  <a:txBody>
                    <a:bodyPr/>
                    <a:lstStyle/>
                    <a:p>
                      <a:pPr algn="l">
                        <a:buNone/>
                      </a:pPr>
                      <a:r>
                        <a:rPr sz="2175" b="0">
                          <a:solidFill>
                            <a:srgbClr val="172B40"/>
                          </a:solidFill>
                          <a:latin typeface="Lato"/>
                          <a:ea typeface="Lato"/>
                          <a:cs typeface="Lato"/>
                        </a:rPr>
                        <a:t>Red earns a takedown</a:t>
                      </a:r>
                    </a:p>
                  </a:txBody>
                  <a:tcPr marL="152400" marR="152400" marT="95250" marB="95250" anchor="ctr">
                    <a:solidFill>
                      <a:srgbClr val="EAF1F6"/>
                    </a:solidFill>
                  </a:tcPr>
                </a:tc>
                <a:tc>
                  <a:txBody>
                    <a:bodyPr/>
                    <a:lstStyle/>
                    <a:p>
                      <a:pPr algn="ctr">
                        <a:buNone/>
                      </a:pPr>
                      <a:r>
                        <a:rPr sz="2850" b="1">
                          <a:solidFill>
                            <a:srgbClr val="116644"/>
                          </a:solidFill>
                          <a:latin typeface="Lato"/>
                          <a:ea typeface="Lato"/>
                          <a:cs typeface="Lato"/>
                        </a:rPr>
                        <a:t>3</a:t>
                      </a:r>
                    </a:p>
                  </a:txBody>
                  <a:tcPr marL="152400" marR="152400" marT="95250" marB="95250" anchor="ctr">
                    <a:solidFill>
                      <a:srgbClr val="EAF1F6"/>
                    </a:solidFill>
                  </a:tcPr>
                </a:tc>
                <a:tc>
                  <a:txBody>
                    <a:bodyPr/>
                    <a:lstStyle/>
                    <a:p>
                      <a:pPr algn="ctr">
                        <a:buNone/>
                      </a:pPr>
                      <a:r>
                        <a:rPr sz="2850" b="1">
                          <a:solidFill>
                            <a:srgbClr val="B42D37"/>
                          </a:solidFill>
                          <a:latin typeface="Lato"/>
                          <a:ea typeface="Lato"/>
                          <a:cs typeface="Lato"/>
                        </a:rPr>
                        <a:t>4</a:t>
                      </a:r>
                    </a:p>
                  </a:txBody>
                  <a:tcPr marL="152400" marR="152400" marT="95250" marB="95250" anchor="ctr">
                    <a:solidFill>
                      <a:srgbClr val="EAF1F6"/>
                    </a:solidFill>
                  </a:tcPr>
                </a:tc>
              </a:tr>
              <a:tr h="739140">
                <a:tc>
                  <a:txBody>
                    <a:bodyPr/>
                    <a:lstStyle/>
                    <a:p>
                      <a:pPr algn="l">
                        <a:buNone/>
                      </a:pPr>
                      <a:r>
                        <a:rPr sz="2175" b="0">
                          <a:solidFill>
                            <a:srgbClr val="172B40"/>
                          </a:solidFill>
                          <a:latin typeface="Lato"/>
                          <a:ea typeface="Lato"/>
                          <a:cs typeface="Lato"/>
                        </a:rPr>
                        <a:t>Green earns a reversal</a:t>
                      </a:r>
                    </a:p>
                  </a:txBody>
                  <a:tcPr marL="152400" marR="152400" marT="95250" marB="95250" anchor="ctr">
                    <a:solidFill>
                      <a:srgbClr val="FAFBFC"/>
                    </a:solidFill>
                  </a:tcPr>
                </a:tc>
                <a:tc>
                  <a:txBody>
                    <a:bodyPr/>
                    <a:lstStyle/>
                    <a:p>
                      <a:pPr algn="ctr">
                        <a:buNone/>
                      </a:pPr>
                      <a:r>
                        <a:rPr sz="2850" b="1">
                          <a:solidFill>
                            <a:srgbClr val="116644"/>
                          </a:solidFill>
                          <a:latin typeface="Lato"/>
                          <a:ea typeface="Lato"/>
                          <a:cs typeface="Lato"/>
                        </a:rPr>
                        <a:t>5</a:t>
                      </a:r>
                    </a:p>
                  </a:txBody>
                  <a:tcPr marL="152400" marR="152400" marT="95250" marB="95250" anchor="ctr">
                    <a:solidFill>
                      <a:srgbClr val="FAFBFC"/>
                    </a:solidFill>
                  </a:tcPr>
                </a:tc>
                <a:tc>
                  <a:txBody>
                    <a:bodyPr/>
                    <a:lstStyle/>
                    <a:p>
                      <a:pPr algn="ctr">
                        <a:buNone/>
                      </a:pPr>
                      <a:r>
                        <a:rPr sz="2850" b="1">
                          <a:solidFill>
                            <a:srgbClr val="B42D37"/>
                          </a:solidFill>
                          <a:latin typeface="Lato"/>
                          <a:ea typeface="Lato"/>
                          <a:cs typeface="Lato"/>
                        </a:rPr>
                        <a:t>4</a:t>
                      </a:r>
                    </a:p>
                  </a:txBody>
                  <a:tcPr marL="152400" marR="152400" marT="95250" marB="95250" anchor="ctr">
                    <a:solidFill>
                      <a:srgbClr val="FAFBFC"/>
                    </a:solidFill>
                  </a:tcPr>
                </a:tc>
              </a:tr>
            </a:tbl>
          </a:graphicData>
        </a:graphic>
      </p:graphicFrame>
      <p:sp>
        <p:nvSpPr>
          <p:cNvPr id="4" name="">
            <a:extLst xmlns:a="http://schemas.openxmlformats.org/drawingml/2006/main">
              <a:ext uri="{FF2B5EF4-FFF2-40B4-BE49-F238E27FC236}">
                <a16:creationId xmlns:a16="http://schemas.microsoft.com/office/drawing/2014/main" id="{1A60F48C-170B-48A7-9F87-45AF929EA4DB}"/>
              </a:ext>
            </a:extLst>
          </p:cNvPr>
          <p:cNvSpPr>
            <a:spLocks xmlns:a="http://schemas.openxmlformats.org/drawingml/2006/main" noGrp="1"/>
          </p:cNvSpPr>
          <p:nvPr/>
        </p:nvSpPr>
        <p:spPr>
          <a:xfrm xmlns:a="http://schemas.openxmlformats.org/drawingml/2006/main">
            <a:off x="685800" y="5857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85C91"/>
                </a:solidFill>
                <a:latin typeface="Lato"/>
                <a:ea typeface="Lato"/>
                <a:cs typeface="Lato"/>
              </a:defRPr>
            </a:pPr>
            <a:r>
              <a:rPr sz="1875" b="1">
                <a:solidFill>
                  <a:srgbClr val="185C91"/>
                </a:solidFill>
                <a:latin typeface="Lato"/>
                <a:ea typeface="Lato"/>
                <a:cs typeface="Lato"/>
              </a:rPr>
              <a:t>These are running totals. The score carries across periods.</a:t>
            </a:r>
          </a:p>
        </p:txBody>
      </p:sp>
    </p:spTree>
    <p:extLst>
      <p:ext uri="{BB962C8B-B14F-4D97-AF65-F5344CB8AC3E}">
        <p14:creationId xmlns:p14="http://schemas.microsoft.com/office/powerpoint/2010/main" val="1336991248"/>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5E55C8F-E4C8-4A9F-BBD7-F06957DB2ABE}"/>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72B40"/>
                </a:solidFill>
                <a:latin typeface="Lato"/>
                <a:ea typeface="Lato"/>
                <a:cs typeface="Lato"/>
              </a:defRPr>
            </a:pPr>
            <a:r>
              <a:rPr sz="3600" b="1">
                <a:solidFill>
                  <a:srgbClr val="172B40"/>
                </a:solidFill>
                <a:latin typeface="Lato"/>
                <a:ea typeface="Lato"/>
                <a:cs typeface="Lato"/>
              </a:rPr>
              <a:t>The whistle and the clock</a:t>
            </a:r>
          </a:p>
        </p:txBody>
      </p:sp>
      <p:sp>
        <p:nvSpPr>
          <p:cNvPr id="2" name="">
            <a:extLst xmlns:a="http://schemas.openxmlformats.org/drawingml/2006/main">
              <a:ext uri="{FF2B5EF4-FFF2-40B4-BE49-F238E27FC236}">
                <a16:creationId xmlns:a16="http://schemas.microsoft.com/office/drawing/2014/main" id="{FF7BFD36-75DF-4F04-A72A-9DCC0ACB9A38}"/>
              </a:ext>
            </a:extLst>
          </p:cNvPr>
          <p:cNvSpPr>
            <a:spLocks xmlns:a="http://schemas.openxmlformats.org/drawingml/2006/main" noGrp="1"/>
          </p:cNvSpPr>
          <p:nvPr/>
        </p:nvSpPr>
        <p:spPr>
          <a:xfrm xmlns:a="http://schemas.openxmlformats.org/drawingml/2006/main">
            <a:off x="11239500" y="6305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86177"/>
                </a:solidFill>
                <a:latin typeface="Lato"/>
                <a:ea typeface="Lato"/>
                <a:cs typeface="Lato"/>
              </a:defRPr>
            </a:pPr>
            <a:r>
              <a:rPr sz="1350" b="0">
                <a:solidFill>
                  <a:srgbClr val="486177"/>
                </a:solidFill>
                <a:latin typeface="Lato"/>
                <a:ea typeface="Lato"/>
                <a:cs typeface="Lato"/>
              </a:rPr>
              <a:t>07</a:t>
            </a:r>
          </a:p>
        </p:txBody>
      </p:sp>
      <p:sp>
        <p:nvSpPr>
          <p:cNvPr id="3" name="">
            <a:extLst xmlns:a="http://schemas.openxmlformats.org/drawingml/2006/main">
              <a:ext uri="{FF2B5EF4-FFF2-40B4-BE49-F238E27FC236}">
                <a16:creationId xmlns:a16="http://schemas.microsoft.com/office/drawing/2014/main" id="{06358E02-3A46-445A-BD8F-0F09F34A02FA}"/>
              </a:ext>
            </a:extLst>
          </p:cNvPr>
          <p:cNvSpPr>
            <a:spLocks xmlns:a="http://schemas.openxmlformats.org/drawingml/2006/main" noGrp="1"/>
          </p:cNvSpPr>
          <p:nvPr/>
        </p:nvSpPr>
        <p:spPr>
          <a:xfrm xmlns:a="http://schemas.openxmlformats.org/drawingml/2006/main">
            <a:off x="685800" y="1752600"/>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185C91"/>
                </a:solidFill>
                <a:latin typeface="Lato"/>
                <a:ea typeface="Lato"/>
                <a:cs typeface="Lato"/>
              </a:defRPr>
            </a:pPr>
            <a:r>
              <a:rPr sz="2250" b="1">
                <a:solidFill>
                  <a:srgbClr val="185C91"/>
                </a:solidFill>
                <a:latin typeface="Lato"/>
                <a:ea typeface="Lato"/>
                <a:cs typeface="Lato"/>
              </a:rPr>
              <a:t>FIRST PERIOD</a:t>
            </a:r>
          </a:p>
        </p:txBody>
      </p:sp>
      <p:sp>
        <p:nvSpPr>
          <p:cNvPr id="4" name="">
            <a:extLst xmlns:a="http://schemas.openxmlformats.org/drawingml/2006/main">
              <a:ext uri="{FF2B5EF4-FFF2-40B4-BE49-F238E27FC236}">
                <a16:creationId xmlns:a16="http://schemas.microsoft.com/office/drawing/2014/main" id="{81E5CDB7-8A2A-4F7F-9108-017CEA7D6270}"/>
              </a:ext>
            </a:extLst>
          </p:cNvPr>
          <p:cNvSpPr>
            <a:spLocks xmlns:a="http://schemas.openxmlformats.org/drawingml/2006/main" noGrp="1"/>
          </p:cNvSpPr>
          <p:nvPr/>
        </p:nvSpPr>
        <p:spPr>
          <a:xfrm xmlns:a="http://schemas.openxmlformats.org/drawingml/2006/main">
            <a:off x="4114800" y="1714500"/>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b="0">
                <a:solidFill>
                  <a:srgbClr val="172B40"/>
                </a:solidFill>
                <a:latin typeface="Lato"/>
                <a:ea typeface="Lato"/>
                <a:cs typeface="Lato"/>
              </a:defRPr>
            </a:pPr>
            <a:r>
              <a:rPr sz="2700" b="0">
                <a:solidFill>
                  <a:srgbClr val="172B40"/>
                </a:solidFill>
                <a:latin typeface="Lato"/>
                <a:ea typeface="Lato"/>
                <a:cs typeface="Lato"/>
              </a:rPr>
              <a:t>Both wrestlers start neutral</a:t>
            </a:r>
          </a:p>
        </p:txBody>
      </p:sp>
      <p:sp>
        <p:nvSpPr>
          <p:cNvPr id="5" name="">
            <a:extLst xmlns:a="http://schemas.openxmlformats.org/drawingml/2006/main">
              <a:ext uri="{FF2B5EF4-FFF2-40B4-BE49-F238E27FC236}">
                <a16:creationId xmlns:a16="http://schemas.microsoft.com/office/drawing/2014/main" id="{99EA3897-9E4A-4358-8145-B02A60A55F8F}"/>
              </a:ext>
            </a:extLst>
          </p:cNvPr>
          <p:cNvSpPr>
            <a:spLocks xmlns:a="http://schemas.openxmlformats.org/drawingml/2006/main" noGrp="1"/>
          </p:cNvSpPr>
          <p:nvPr/>
        </p:nvSpPr>
        <p:spPr>
          <a:xfrm xmlns:a="http://schemas.openxmlformats.org/drawingml/2006/main">
            <a:off x="685800" y="2905125"/>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185C91"/>
                </a:solidFill>
                <a:latin typeface="Lato"/>
                <a:ea typeface="Lato"/>
                <a:cs typeface="Lato"/>
              </a:defRPr>
            </a:pPr>
            <a:r>
              <a:rPr sz="2250" b="1">
                <a:solidFill>
                  <a:srgbClr val="185C91"/>
                </a:solidFill>
                <a:latin typeface="Lato"/>
                <a:ea typeface="Lato"/>
                <a:cs typeface="Lato"/>
              </a:rPr>
              <a:t>LATER PERIODS</a:t>
            </a:r>
          </a:p>
        </p:txBody>
      </p:sp>
      <p:sp>
        <p:nvSpPr>
          <p:cNvPr id="6" name="">
            <a:extLst xmlns:a="http://schemas.openxmlformats.org/drawingml/2006/main">
              <a:ext uri="{FF2B5EF4-FFF2-40B4-BE49-F238E27FC236}">
                <a16:creationId xmlns:a16="http://schemas.microsoft.com/office/drawing/2014/main" id="{1A68849C-9F85-47C1-B2B9-A5B5BEFF1324}"/>
              </a:ext>
            </a:extLst>
          </p:cNvPr>
          <p:cNvSpPr>
            <a:spLocks xmlns:a="http://schemas.openxmlformats.org/drawingml/2006/main" noGrp="1"/>
          </p:cNvSpPr>
          <p:nvPr/>
        </p:nvSpPr>
        <p:spPr>
          <a:xfrm xmlns:a="http://schemas.openxmlformats.org/drawingml/2006/main">
            <a:off x="4114800" y="2867025"/>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b="0">
                <a:solidFill>
                  <a:srgbClr val="172B40"/>
                </a:solidFill>
                <a:latin typeface="Lato"/>
                <a:ea typeface="Lato"/>
                <a:cs typeface="Lato"/>
              </a:defRPr>
            </a:pPr>
            <a:r>
              <a:rPr sz="2700" b="0">
                <a:solidFill>
                  <a:srgbClr val="172B40"/>
                </a:solidFill>
                <a:latin typeface="Lato"/>
                <a:ea typeface="Lato"/>
                <a:cs typeface="Lato"/>
              </a:rPr>
              <a:t>The coach guides the position choice</a:t>
            </a:r>
          </a:p>
        </p:txBody>
      </p:sp>
      <p:sp>
        <p:nvSpPr>
          <p:cNvPr id="7" name="">
            <a:extLst xmlns:a="http://schemas.openxmlformats.org/drawingml/2006/main">
              <a:ext uri="{FF2B5EF4-FFF2-40B4-BE49-F238E27FC236}">
                <a16:creationId xmlns:a16="http://schemas.microsoft.com/office/drawing/2014/main" id="{84AE835B-BC4D-4436-B6BF-466334147BB1}"/>
              </a:ext>
            </a:extLst>
          </p:cNvPr>
          <p:cNvSpPr>
            <a:spLocks xmlns:a="http://schemas.openxmlformats.org/drawingml/2006/main" noGrp="1"/>
          </p:cNvSpPr>
          <p:nvPr/>
        </p:nvSpPr>
        <p:spPr>
          <a:xfrm xmlns:a="http://schemas.openxmlformats.org/drawingml/2006/main">
            <a:off x="685800" y="4057650"/>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185C91"/>
                </a:solidFill>
                <a:latin typeface="Lato"/>
                <a:ea typeface="Lato"/>
                <a:cs typeface="Lato"/>
              </a:defRPr>
            </a:pPr>
            <a:r>
              <a:rPr sz="2250" b="1">
                <a:solidFill>
                  <a:srgbClr val="185C91"/>
                </a:solidFill>
                <a:latin typeface="Lato"/>
                <a:ea typeface="Lato"/>
                <a:cs typeface="Lato"/>
              </a:rPr>
              <a:t>WHOLE MATCH</a:t>
            </a:r>
          </a:p>
        </p:txBody>
      </p:sp>
      <p:sp>
        <p:nvSpPr>
          <p:cNvPr id="8" name="">
            <a:extLst xmlns:a="http://schemas.openxmlformats.org/drawingml/2006/main">
              <a:ext uri="{FF2B5EF4-FFF2-40B4-BE49-F238E27FC236}">
                <a16:creationId xmlns:a16="http://schemas.microsoft.com/office/drawing/2014/main" id="{F7893298-E330-4EEC-90E8-F0C3CC231E8B}"/>
              </a:ext>
            </a:extLst>
          </p:cNvPr>
          <p:cNvSpPr>
            <a:spLocks xmlns:a="http://schemas.openxmlformats.org/drawingml/2006/main" noGrp="1"/>
          </p:cNvSpPr>
          <p:nvPr/>
        </p:nvSpPr>
        <p:spPr>
          <a:xfrm xmlns:a="http://schemas.openxmlformats.org/drawingml/2006/main">
            <a:off x="4114800" y="4019550"/>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b="0">
                <a:solidFill>
                  <a:srgbClr val="172B40"/>
                </a:solidFill>
                <a:latin typeface="Lato"/>
                <a:ea typeface="Lato"/>
                <a:cs typeface="Lato"/>
              </a:defRPr>
            </a:pPr>
            <a:r>
              <a:rPr sz="2700" b="0">
                <a:solidFill>
                  <a:srgbClr val="172B40"/>
                </a:solidFill>
                <a:latin typeface="Lato"/>
                <a:ea typeface="Lato"/>
                <a:cs typeface="Lato"/>
              </a:rPr>
              <a:t>The score carries over until the match ends</a:t>
            </a:r>
          </a:p>
        </p:txBody>
      </p:sp>
      <p:sp>
        <p:nvSpPr>
          <p:cNvPr id="9" name="">
            <a:extLst xmlns:a="http://schemas.openxmlformats.org/drawingml/2006/main">
              <a:ext uri="{FF2B5EF4-FFF2-40B4-BE49-F238E27FC236}">
                <a16:creationId xmlns:a16="http://schemas.microsoft.com/office/drawing/2014/main" id="{0FC0AE9D-2EA2-4E92-B887-F158B2A80597}"/>
              </a:ext>
            </a:extLst>
          </p:cNvPr>
          <p:cNvSpPr>
            <a:spLocks xmlns:a="http://schemas.openxmlformats.org/drawingml/2006/main" noGrp="1"/>
          </p:cNvSpPr>
          <p:nvPr/>
        </p:nvSpPr>
        <p:spPr>
          <a:xfrm xmlns:a="http://schemas.openxmlformats.org/drawingml/2006/main">
            <a:off x="685800" y="525780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486177"/>
                </a:solidFill>
                <a:latin typeface="Lato"/>
                <a:ea typeface="Lato"/>
                <a:cs typeface="Lato"/>
              </a:defRPr>
            </a:pPr>
            <a:r>
              <a:rPr sz="2025" b="0">
                <a:solidFill>
                  <a:srgbClr val="486177"/>
                </a:solidFill>
                <a:latin typeface="Lato"/>
                <a:ea typeface="Lato"/>
                <a:cs typeface="Lato"/>
              </a:rPr>
              <a:t>Three periods. Your coach confirms their length and the overtime rules.</a:t>
            </a:r>
          </a:p>
        </p:txBody>
      </p:sp>
      <p:sp>
        <p:nvSpPr>
          <p:cNvPr id="10" name="">
            <a:extLst xmlns:a="http://schemas.openxmlformats.org/drawingml/2006/main">
              <a:ext uri="{FF2B5EF4-FFF2-40B4-BE49-F238E27FC236}">
                <a16:creationId xmlns:a16="http://schemas.microsoft.com/office/drawing/2014/main" id="{67BB9E4A-2C85-42F4-9E6A-ACDFB047B2F0}"/>
              </a:ext>
            </a:extLst>
          </p:cNvPr>
          <p:cNvSpPr>
            <a:spLocks xmlns:a="http://schemas.openxmlformats.org/drawingml/2006/main" noGrp="1"/>
          </p:cNvSpPr>
          <p:nvPr/>
        </p:nvSpPr>
        <p:spPr>
          <a:xfrm xmlns:a="http://schemas.openxmlformats.org/drawingml/2006/main">
            <a:off x="685800" y="5857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85C91"/>
                </a:solidFill>
                <a:latin typeface="Lato"/>
                <a:ea typeface="Lato"/>
                <a:cs typeface="Lato"/>
              </a:defRPr>
            </a:pPr>
            <a:r>
              <a:rPr sz="1875" b="1">
                <a:solidFill>
                  <a:srgbClr val="185C91"/>
                </a:solidFill>
                <a:latin typeface="Lato"/>
                <a:ea typeface="Lato"/>
                <a:cs typeface="Lato"/>
              </a:rPr>
              <a:t>Penalty points go to the opponent. A whistle alone does not mean points.</a:t>
            </a:r>
          </a:p>
        </p:txBody>
      </p:sp>
    </p:spTree>
    <p:extLst>
      <p:ext uri="{BB962C8B-B14F-4D97-AF65-F5344CB8AC3E}">
        <p14:creationId xmlns:p14="http://schemas.microsoft.com/office/powerpoint/2010/main" val="1849110952"/>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DEE99D-3667-4964-AFC4-21D2561B6B24}"/>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72B40"/>
                </a:solidFill>
                <a:latin typeface="Lato"/>
                <a:ea typeface="Lato"/>
                <a:cs typeface="Lato"/>
              </a:defRPr>
            </a:pPr>
            <a:r>
              <a:rPr sz="3600" b="1">
                <a:solidFill>
                  <a:srgbClr val="172B40"/>
                </a:solidFill>
                <a:latin typeface="Lato"/>
                <a:ea typeface="Lato"/>
                <a:cs typeface="Lato"/>
              </a:rPr>
              <a:t>Your meet day routine</a:t>
            </a:r>
          </a:p>
        </p:txBody>
      </p:sp>
      <p:sp>
        <p:nvSpPr>
          <p:cNvPr id="2" name="">
            <a:extLst xmlns:a="http://schemas.openxmlformats.org/drawingml/2006/main">
              <a:ext uri="{FF2B5EF4-FFF2-40B4-BE49-F238E27FC236}">
                <a16:creationId xmlns:a16="http://schemas.microsoft.com/office/drawing/2014/main" id="{1C41B88F-3C56-441C-B890-56B3C269E119}"/>
              </a:ext>
            </a:extLst>
          </p:cNvPr>
          <p:cNvSpPr>
            <a:spLocks xmlns:a="http://schemas.openxmlformats.org/drawingml/2006/main" noGrp="1"/>
          </p:cNvSpPr>
          <p:nvPr/>
        </p:nvSpPr>
        <p:spPr>
          <a:xfrm xmlns:a="http://schemas.openxmlformats.org/drawingml/2006/main">
            <a:off x="11239500" y="6305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86177"/>
                </a:solidFill>
                <a:latin typeface="Lato"/>
                <a:ea typeface="Lato"/>
                <a:cs typeface="Lato"/>
              </a:defRPr>
            </a:pPr>
            <a:r>
              <a:rPr sz="1350" b="0">
                <a:solidFill>
                  <a:srgbClr val="486177"/>
                </a:solidFill>
                <a:latin typeface="Lato"/>
                <a:ea typeface="Lato"/>
                <a:cs typeface="Lato"/>
              </a:rPr>
              <a:t>08</a:t>
            </a:r>
          </a:p>
        </p:txBody>
      </p:sp>
      <p:sp>
        <p:nvSpPr>
          <p:cNvPr id="3" name="">
            <a:extLst xmlns:a="http://schemas.openxmlformats.org/drawingml/2006/main">
              <a:ext uri="{FF2B5EF4-FFF2-40B4-BE49-F238E27FC236}">
                <a16:creationId xmlns:a16="http://schemas.microsoft.com/office/drawing/2014/main" id="{2EE1F3CF-478B-4AA2-B720-1E31B453C8E3}"/>
              </a:ext>
            </a:extLst>
          </p:cNvPr>
          <p:cNvSpPr>
            <a:spLocks xmlns:a="http://schemas.openxmlformats.org/drawingml/2006/main" noGrp="1"/>
          </p:cNvSpPr>
          <p:nvPr/>
        </p:nvSpPr>
        <p:spPr>
          <a:xfrm xmlns:a="http://schemas.openxmlformats.org/drawingml/2006/main">
            <a:off x="685800" y="158115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185C91"/>
                </a:solidFill>
                <a:latin typeface="Lato"/>
                <a:ea typeface="Lato"/>
                <a:cs typeface="Lato"/>
              </a:defRPr>
            </a:pPr>
            <a:r>
              <a:rPr sz="2100" b="1">
                <a:solidFill>
                  <a:srgbClr val="185C91"/>
                </a:solidFill>
                <a:latin typeface="Lato"/>
                <a:ea typeface="Lato"/>
                <a:cs typeface="Lato"/>
              </a:rPr>
              <a:t>BEFORE</a:t>
            </a:r>
          </a:p>
        </p:txBody>
      </p:sp>
      <p:sp>
        <p:nvSpPr>
          <p:cNvPr id="4" name="">
            <a:extLst xmlns:a="http://schemas.openxmlformats.org/drawingml/2006/main">
              <a:ext uri="{FF2B5EF4-FFF2-40B4-BE49-F238E27FC236}">
                <a16:creationId xmlns:a16="http://schemas.microsoft.com/office/drawing/2014/main" id="{56B522DA-D9CF-49D1-8124-B6810C7644B7}"/>
              </a:ext>
            </a:extLst>
          </p:cNvPr>
          <p:cNvSpPr>
            <a:spLocks xmlns:a="http://schemas.openxmlformats.org/drawingml/2006/main" noGrp="1"/>
          </p:cNvSpPr>
          <p:nvPr/>
        </p:nvSpPr>
        <p:spPr>
          <a:xfrm xmlns:a="http://schemas.openxmlformats.org/drawingml/2006/main">
            <a:off x="2647950" y="1571625"/>
            <a:ext cx="87534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172B40"/>
                </a:solidFill>
                <a:latin typeface="Lato"/>
                <a:ea typeface="Lato"/>
                <a:cs typeface="Lato"/>
              </a:defRPr>
            </a:pPr>
            <a:r>
              <a:rPr sz="2250" b="0">
                <a:solidFill>
                  <a:srgbClr val="172B40"/>
                </a:solidFill>
                <a:latin typeface="Lato"/>
                <a:ea typeface="Lato"/>
                <a:cs typeface="Lato"/>
              </a:rPr>
              <a:t>Read the team message. Confirm arrival and weigh-ins.</a:t>
            </a:r>
          </a:p>
        </p:txBody>
      </p:sp>
      <p:sp>
        <p:nvSpPr>
          <p:cNvPr id="5" name="">
            <a:extLst xmlns:a="http://schemas.openxmlformats.org/drawingml/2006/main">
              <a:ext uri="{FF2B5EF4-FFF2-40B4-BE49-F238E27FC236}">
                <a16:creationId xmlns:a16="http://schemas.microsoft.com/office/drawing/2014/main" id="{EEAA583D-1446-44AC-9EC1-709E39B8C6D4}"/>
              </a:ext>
            </a:extLst>
          </p:cNvPr>
          <p:cNvSpPr>
            <a:spLocks xmlns:a="http://schemas.openxmlformats.org/drawingml/2006/main" noGrp="1"/>
          </p:cNvSpPr>
          <p:nvPr/>
        </p:nvSpPr>
        <p:spPr>
          <a:xfrm xmlns:a="http://schemas.openxmlformats.org/drawingml/2006/main">
            <a:off x="685800" y="244792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185C91"/>
                </a:solidFill>
                <a:latin typeface="Lato"/>
                <a:ea typeface="Lato"/>
                <a:cs typeface="Lato"/>
              </a:defRPr>
            </a:pPr>
            <a:r>
              <a:rPr sz="2100" b="1">
                <a:solidFill>
                  <a:srgbClr val="185C91"/>
                </a:solidFill>
                <a:latin typeface="Lato"/>
                <a:ea typeface="Lato"/>
                <a:cs typeface="Lato"/>
              </a:rPr>
              <a:t>ARRIVE</a:t>
            </a:r>
          </a:p>
        </p:txBody>
      </p:sp>
      <p:sp>
        <p:nvSpPr>
          <p:cNvPr id="6" name="">
            <a:extLst xmlns:a="http://schemas.openxmlformats.org/drawingml/2006/main">
              <a:ext uri="{FF2B5EF4-FFF2-40B4-BE49-F238E27FC236}">
                <a16:creationId xmlns:a16="http://schemas.microsoft.com/office/drawing/2014/main" id="{42C2F8C7-51FB-4FF2-A3E0-80A6CA2EF7C2}"/>
              </a:ext>
            </a:extLst>
          </p:cNvPr>
          <p:cNvSpPr>
            <a:spLocks xmlns:a="http://schemas.openxmlformats.org/drawingml/2006/main" noGrp="1"/>
          </p:cNvSpPr>
          <p:nvPr/>
        </p:nvSpPr>
        <p:spPr>
          <a:xfrm xmlns:a="http://schemas.openxmlformats.org/drawingml/2006/main">
            <a:off x="2647950" y="2438400"/>
            <a:ext cx="87534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172B40"/>
                </a:solidFill>
                <a:latin typeface="Lato"/>
                <a:ea typeface="Lato"/>
                <a:cs typeface="Lato"/>
              </a:defRPr>
            </a:pPr>
            <a:r>
              <a:rPr sz="2250" b="0">
                <a:solidFill>
                  <a:srgbClr val="172B40"/>
                </a:solidFill>
                <a:latin typeface="Lato"/>
                <a:ea typeface="Lato"/>
                <a:cs typeface="Lato"/>
              </a:rPr>
              <a:t>Check in, find the coach, and warm up.</a:t>
            </a:r>
          </a:p>
        </p:txBody>
      </p:sp>
      <p:sp>
        <p:nvSpPr>
          <p:cNvPr id="7" name="">
            <a:extLst xmlns:a="http://schemas.openxmlformats.org/drawingml/2006/main">
              <a:ext uri="{FF2B5EF4-FFF2-40B4-BE49-F238E27FC236}">
                <a16:creationId xmlns:a16="http://schemas.microsoft.com/office/drawing/2014/main" id="{DB24E712-7785-4099-9599-42F784CA646B}"/>
              </a:ext>
            </a:extLst>
          </p:cNvPr>
          <p:cNvSpPr>
            <a:spLocks xmlns:a="http://schemas.openxmlformats.org/drawingml/2006/main" noGrp="1"/>
          </p:cNvSpPr>
          <p:nvPr/>
        </p:nvSpPr>
        <p:spPr>
          <a:xfrm xmlns:a="http://schemas.openxmlformats.org/drawingml/2006/main">
            <a:off x="685800" y="33147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185C91"/>
                </a:solidFill>
                <a:latin typeface="Lato"/>
                <a:ea typeface="Lato"/>
                <a:cs typeface="Lato"/>
              </a:defRPr>
            </a:pPr>
            <a:r>
              <a:rPr sz="2100" b="1">
                <a:solidFill>
                  <a:srgbClr val="185C91"/>
                </a:solidFill>
                <a:latin typeface="Lato"/>
                <a:ea typeface="Lato"/>
                <a:cs typeface="Lato"/>
              </a:rPr>
              <a:t>WAIT</a:t>
            </a:r>
          </a:p>
        </p:txBody>
      </p:sp>
      <p:sp>
        <p:nvSpPr>
          <p:cNvPr id="8" name="">
            <a:extLst xmlns:a="http://schemas.openxmlformats.org/drawingml/2006/main">
              <a:ext uri="{FF2B5EF4-FFF2-40B4-BE49-F238E27FC236}">
                <a16:creationId xmlns:a16="http://schemas.microsoft.com/office/drawing/2014/main" id="{BD107292-F24F-451A-ACA3-0A6814303069}"/>
              </a:ext>
            </a:extLst>
          </p:cNvPr>
          <p:cNvSpPr>
            <a:spLocks xmlns:a="http://schemas.openxmlformats.org/drawingml/2006/main" noGrp="1"/>
          </p:cNvSpPr>
          <p:nvPr/>
        </p:nvSpPr>
        <p:spPr>
          <a:xfrm xmlns:a="http://schemas.openxmlformats.org/drawingml/2006/main">
            <a:off x="2647950" y="3305175"/>
            <a:ext cx="87534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172B40"/>
                </a:solidFill>
                <a:latin typeface="Lato"/>
                <a:ea typeface="Lato"/>
                <a:cs typeface="Lato"/>
              </a:defRPr>
            </a:pPr>
            <a:r>
              <a:rPr sz="2250" b="0">
                <a:solidFill>
                  <a:srgbClr val="172B40"/>
                </a:solidFill>
                <a:latin typeface="Lato"/>
                <a:ea typeface="Lato"/>
                <a:cs typeface="Lato"/>
              </a:rPr>
              <a:t>Track the bout and mat. Stay near the team.</a:t>
            </a:r>
          </a:p>
        </p:txBody>
      </p:sp>
      <p:sp>
        <p:nvSpPr>
          <p:cNvPr id="9" name="">
            <a:extLst xmlns:a="http://schemas.openxmlformats.org/drawingml/2006/main">
              <a:ext uri="{FF2B5EF4-FFF2-40B4-BE49-F238E27FC236}">
                <a16:creationId xmlns:a16="http://schemas.microsoft.com/office/drawing/2014/main" id="{94458E87-C648-452A-9148-4E73D4C514C3}"/>
              </a:ext>
            </a:extLst>
          </p:cNvPr>
          <p:cNvSpPr>
            <a:spLocks xmlns:a="http://schemas.openxmlformats.org/drawingml/2006/main" noGrp="1"/>
          </p:cNvSpPr>
          <p:nvPr/>
        </p:nvSpPr>
        <p:spPr>
          <a:xfrm xmlns:a="http://schemas.openxmlformats.org/drawingml/2006/main">
            <a:off x="685800" y="41814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185C91"/>
                </a:solidFill>
                <a:latin typeface="Lato"/>
                <a:ea typeface="Lato"/>
                <a:cs typeface="Lato"/>
              </a:defRPr>
            </a:pPr>
            <a:r>
              <a:rPr sz="2100" b="1">
                <a:solidFill>
                  <a:srgbClr val="185C91"/>
                </a:solidFill>
                <a:latin typeface="Lato"/>
                <a:ea typeface="Lato"/>
                <a:cs typeface="Lato"/>
              </a:rPr>
              <a:t>AFTER</a:t>
            </a:r>
          </a:p>
        </p:txBody>
      </p:sp>
      <p:sp>
        <p:nvSpPr>
          <p:cNvPr id="10" name="">
            <a:extLst xmlns:a="http://schemas.openxmlformats.org/drawingml/2006/main">
              <a:ext uri="{FF2B5EF4-FFF2-40B4-BE49-F238E27FC236}">
                <a16:creationId xmlns:a16="http://schemas.microsoft.com/office/drawing/2014/main" id="{73C07EBC-40CD-48CF-9134-7FBCDB24AB5A}"/>
              </a:ext>
            </a:extLst>
          </p:cNvPr>
          <p:cNvSpPr>
            <a:spLocks xmlns:a="http://schemas.openxmlformats.org/drawingml/2006/main" noGrp="1"/>
          </p:cNvSpPr>
          <p:nvPr/>
        </p:nvSpPr>
        <p:spPr>
          <a:xfrm xmlns:a="http://schemas.openxmlformats.org/drawingml/2006/main">
            <a:off x="2647950" y="4171950"/>
            <a:ext cx="87534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172B40"/>
                </a:solidFill>
                <a:latin typeface="Lato"/>
                <a:ea typeface="Lato"/>
                <a:cs typeface="Lato"/>
              </a:defRPr>
            </a:pPr>
            <a:r>
              <a:rPr sz="2250" b="0">
                <a:solidFill>
                  <a:srgbClr val="172B40"/>
                </a:solidFill>
                <a:latin typeface="Lato"/>
                <a:ea typeface="Lato"/>
                <a:cs typeface="Lato"/>
              </a:rPr>
              <a:t>Check the next assignment before leaving.</a:t>
            </a:r>
          </a:p>
        </p:txBody>
      </p:sp>
      <p:sp>
        <p:nvSpPr>
          <p:cNvPr id="11" name="">
            <a:extLst xmlns:a="http://schemas.openxmlformats.org/drawingml/2006/main">
              <a:ext uri="{FF2B5EF4-FFF2-40B4-BE49-F238E27FC236}">
                <a16:creationId xmlns:a16="http://schemas.microsoft.com/office/drawing/2014/main" id="{F563B9AF-8979-405F-9415-C72657821D38}"/>
              </a:ext>
            </a:extLst>
          </p:cNvPr>
          <p:cNvSpPr>
            <a:spLocks xmlns:a="http://schemas.openxmlformats.org/drawingml/2006/main" noGrp="1"/>
          </p:cNvSpPr>
          <p:nvPr/>
        </p:nvSpPr>
        <p:spPr>
          <a:xfrm xmlns:a="http://schemas.openxmlformats.org/drawingml/2006/main">
            <a:off x="685800" y="52197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72B40"/>
                </a:solidFill>
                <a:latin typeface="Lato"/>
                <a:ea typeface="Lato"/>
                <a:cs typeface="Lato"/>
              </a:defRPr>
            </a:pPr>
            <a:r>
              <a:rPr sz="2400" b="1">
                <a:solidFill>
                  <a:srgbClr val="172B40"/>
                </a:solidFill>
                <a:latin typeface="Lato"/>
                <a:ea typeface="Lato"/>
                <a:cs typeface="Lato"/>
              </a:rPr>
              <a:t>Example: MAT 2    BOUT 111    ON DECK</a:t>
            </a:r>
          </a:p>
        </p:txBody>
      </p:sp>
      <p:sp>
        <p:nvSpPr>
          <p:cNvPr id="12" name="">
            <a:extLst xmlns:a="http://schemas.openxmlformats.org/drawingml/2006/main">
              <a:ext uri="{FF2B5EF4-FFF2-40B4-BE49-F238E27FC236}">
                <a16:creationId xmlns:a16="http://schemas.microsoft.com/office/drawing/2014/main" id="{76F2B688-9FE9-43F7-B8D3-6AB66B3F331E}"/>
              </a:ext>
            </a:extLst>
          </p:cNvPr>
          <p:cNvSpPr>
            <a:spLocks xmlns:a="http://schemas.openxmlformats.org/drawingml/2006/main" noGrp="1"/>
          </p:cNvSpPr>
          <p:nvPr/>
        </p:nvSpPr>
        <p:spPr>
          <a:xfrm xmlns:a="http://schemas.openxmlformats.org/drawingml/2006/main">
            <a:off x="685800" y="5857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85C91"/>
                </a:solidFill>
                <a:latin typeface="Lato"/>
                <a:ea typeface="Lato"/>
                <a:cs typeface="Lato"/>
              </a:defRPr>
            </a:pPr>
            <a:r>
              <a:rPr sz="1875" b="1">
                <a:solidFill>
                  <a:srgbClr val="185C91"/>
                </a:solidFill>
                <a:latin typeface="Lato"/>
                <a:ea typeface="Lato"/>
                <a:cs typeface="Lato"/>
              </a:rPr>
              <a:t>“On deck” usually means next. “In the hole” usually means after that.</a:t>
            </a:r>
          </a:p>
        </p:txBody>
      </p:sp>
    </p:spTree>
    <p:extLst>
      <p:ext uri="{BB962C8B-B14F-4D97-AF65-F5344CB8AC3E}">
        <p14:creationId xmlns:p14="http://schemas.microsoft.com/office/powerpoint/2010/main" val="227036760"/>
      </p:ext>
    </p:extLst>
  </p:cSld>
</p:sld>
</file>

<file path=ppt/slides/slide9.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7FA3D3-C019-44CE-926E-55FC4104F6BA}"/>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72B40"/>
                </a:solidFill>
                <a:latin typeface="Lato"/>
                <a:ea typeface="Lato"/>
                <a:cs typeface="Lato"/>
              </a:defRPr>
            </a:pPr>
            <a:r>
              <a:rPr sz="3600" b="1">
                <a:solidFill>
                  <a:srgbClr val="172B40"/>
                </a:solidFill>
                <a:latin typeface="Lato"/>
                <a:ea typeface="Lato"/>
                <a:cs typeface="Lato"/>
              </a:rPr>
              <a:t>The bag and the health routine</a:t>
            </a:r>
          </a:p>
        </p:txBody>
      </p:sp>
      <p:sp>
        <p:nvSpPr>
          <p:cNvPr id="2" name="">
            <a:extLst xmlns:a="http://schemas.openxmlformats.org/drawingml/2006/main">
              <a:ext uri="{FF2B5EF4-FFF2-40B4-BE49-F238E27FC236}">
                <a16:creationId xmlns:a16="http://schemas.microsoft.com/office/drawing/2014/main" id="{F1B83DB0-C105-44EE-A352-A79891A19C26}"/>
              </a:ext>
            </a:extLst>
          </p:cNvPr>
          <p:cNvSpPr>
            <a:spLocks xmlns:a="http://schemas.openxmlformats.org/drawingml/2006/main" noGrp="1"/>
          </p:cNvSpPr>
          <p:nvPr/>
        </p:nvSpPr>
        <p:spPr>
          <a:xfrm xmlns:a="http://schemas.openxmlformats.org/drawingml/2006/main">
            <a:off x="11239500" y="6305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86177"/>
                </a:solidFill>
                <a:latin typeface="Lato"/>
                <a:ea typeface="Lato"/>
                <a:cs typeface="Lato"/>
              </a:defRPr>
            </a:pPr>
            <a:r>
              <a:rPr sz="1350" b="0">
                <a:solidFill>
                  <a:srgbClr val="486177"/>
                </a:solidFill>
                <a:latin typeface="Lato"/>
                <a:ea typeface="Lato"/>
                <a:cs typeface="Lato"/>
              </a:rPr>
              <a:t>09</a:t>
            </a:r>
          </a:p>
        </p:txBody>
      </p:sp>
      <p:sp>
        <p:nvSpPr>
          <p:cNvPr id="3" name="">
            <a:extLst xmlns:a="http://schemas.openxmlformats.org/drawingml/2006/main">
              <a:ext uri="{FF2B5EF4-FFF2-40B4-BE49-F238E27FC236}">
                <a16:creationId xmlns:a16="http://schemas.microsoft.com/office/drawing/2014/main" id="{462F1FC0-6680-4B34-850C-1DA80B60C4DE}"/>
              </a:ext>
            </a:extLst>
          </p:cNvPr>
          <p:cNvSpPr>
            <a:spLocks xmlns:a="http://schemas.openxmlformats.org/drawingml/2006/main" noGrp="1"/>
          </p:cNvSpPr>
          <p:nvPr/>
        </p:nvSpPr>
        <p:spPr>
          <a:xfrm xmlns:a="http://schemas.openxmlformats.org/drawingml/2006/main">
            <a:off x="685800" y="1676400"/>
            <a:ext cx="5114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185C91"/>
                </a:solidFill>
                <a:latin typeface="Lato"/>
                <a:ea typeface="Lato"/>
                <a:cs typeface="Lato"/>
              </a:defRPr>
            </a:pPr>
            <a:r>
              <a:rPr sz="2175" b="1">
                <a:solidFill>
                  <a:srgbClr val="185C91"/>
                </a:solidFill>
                <a:latin typeface="Lato"/>
                <a:ea typeface="Lato"/>
                <a:cs typeface="Lato"/>
              </a:rPr>
              <a:t>IN THE BAG</a:t>
            </a:r>
          </a:p>
        </p:txBody>
      </p:sp>
      <p:sp>
        <p:nvSpPr>
          <p:cNvPr id="4" name="">
            <a:extLst xmlns:a="http://schemas.openxmlformats.org/drawingml/2006/main">
              <a:ext uri="{FF2B5EF4-FFF2-40B4-BE49-F238E27FC236}">
                <a16:creationId xmlns:a16="http://schemas.microsoft.com/office/drawing/2014/main" id="{226228C1-60FF-4F11-B11E-EA0A6E40A0A6}"/>
              </a:ext>
            </a:extLst>
          </p:cNvPr>
          <p:cNvSpPr>
            <a:spLocks xmlns:a="http://schemas.openxmlformats.org/drawingml/2006/main" noGrp="1"/>
          </p:cNvSpPr>
          <p:nvPr/>
        </p:nvSpPr>
        <p:spPr>
          <a:xfrm xmlns:a="http://schemas.openxmlformats.org/drawingml/2006/main">
            <a:off x="685800" y="2381250"/>
            <a:ext cx="507682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72B40"/>
                </a:solidFill>
                <a:latin typeface="Lato"/>
                <a:ea typeface="Lato"/>
                <a:cs typeface="Lato"/>
              </a:defRPr>
            </a:pPr>
            <a:r>
              <a:rPr sz="2325" b="0">
                <a:solidFill>
                  <a:srgbClr val="172B40"/>
                </a:solidFill>
                <a:latin typeface="Lato"/>
                <a:ea typeface="Lato"/>
                <a:cs typeface="Lato"/>
              </a:rPr>
              <a:t>Uniform, wrestling shoes, headgear</a:t>
            </a:r>
          </a:p>
          <a:p xmlns:a="http://schemas.openxmlformats.org/drawingml/2006/main">
            <a:pPr>
              <a:buNone/>
              <a:defRPr sz="2325" b="0">
                <a:solidFill>
                  <a:srgbClr val="172B40"/>
                </a:solidFill>
                <a:latin typeface="Lato"/>
                <a:ea typeface="Lato"/>
                <a:cs typeface="Lato"/>
              </a:defRPr>
            </a:pPr>
            <a:r>
              <a:rPr sz="2325" b="0">
                <a:solidFill>
                  <a:srgbClr val="172B40"/>
                </a:solidFill>
                <a:latin typeface="Lato"/>
                <a:ea typeface="Lato"/>
                <a:cs typeface="Lato"/>
              </a:rPr>
              <a:t>Water, familiar snacks, warm layer</a:t>
            </a:r>
          </a:p>
          <a:p xmlns:a="http://schemas.openxmlformats.org/drawingml/2006/main">
            <a:pPr>
              <a:buNone/>
              <a:defRPr sz="2325" b="0">
                <a:solidFill>
                  <a:srgbClr val="172B40"/>
                </a:solidFill>
                <a:latin typeface="Lato"/>
                <a:ea typeface="Lato"/>
                <a:cs typeface="Lato"/>
              </a:defRPr>
            </a:pPr>
            <a:r>
              <a:rPr sz="2325" b="0">
                <a:solidFill>
                  <a:srgbClr val="172B40"/>
                </a:solidFill>
                <a:latin typeface="Lato"/>
                <a:ea typeface="Lato"/>
                <a:cs typeface="Lato"/>
              </a:rPr>
              <a:t>Mouthguard if required, especially with braces</a:t>
            </a:r>
          </a:p>
        </p:txBody>
      </p:sp>
      <p:sp>
        <p:nvSpPr>
          <p:cNvPr id="5" name="">
            <a:extLst xmlns:a="http://schemas.openxmlformats.org/drawingml/2006/main">
              <a:ext uri="{FF2B5EF4-FFF2-40B4-BE49-F238E27FC236}">
                <a16:creationId xmlns:a16="http://schemas.microsoft.com/office/drawing/2014/main" id="{A65C614F-13AE-4A41-8A6C-6DEFB5EA8AF6}"/>
              </a:ext>
            </a:extLst>
          </p:cNvPr>
          <p:cNvSpPr>
            <a:spLocks xmlns:a="http://schemas.openxmlformats.org/drawingml/2006/main" noGrp="1"/>
          </p:cNvSpPr>
          <p:nvPr/>
        </p:nvSpPr>
        <p:spPr>
          <a:xfrm xmlns:a="http://schemas.openxmlformats.org/drawingml/2006/main">
            <a:off x="6362700" y="1676400"/>
            <a:ext cx="5114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185C91"/>
                </a:solidFill>
                <a:latin typeface="Lato"/>
                <a:ea typeface="Lato"/>
                <a:cs typeface="Lato"/>
              </a:defRPr>
            </a:pPr>
            <a:r>
              <a:rPr sz="2175" b="1">
                <a:solidFill>
                  <a:srgbClr val="185C91"/>
                </a:solidFill>
                <a:latin typeface="Lato"/>
                <a:ea typeface="Lato"/>
                <a:cs typeface="Lato"/>
              </a:rPr>
              <a:t>BEFORE AND AFTER</a:t>
            </a:r>
          </a:p>
        </p:txBody>
      </p:sp>
      <p:sp>
        <p:nvSpPr>
          <p:cNvPr id="6" name="">
            <a:extLst xmlns:a="http://schemas.openxmlformats.org/drawingml/2006/main">
              <a:ext uri="{FF2B5EF4-FFF2-40B4-BE49-F238E27FC236}">
                <a16:creationId xmlns:a16="http://schemas.microsoft.com/office/drawing/2014/main" id="{212E42FD-B994-4099-BF94-1A60BBF0B6BD}"/>
              </a:ext>
            </a:extLst>
          </p:cNvPr>
          <p:cNvSpPr>
            <a:spLocks xmlns:a="http://schemas.openxmlformats.org/drawingml/2006/main" noGrp="1"/>
          </p:cNvSpPr>
          <p:nvPr/>
        </p:nvSpPr>
        <p:spPr>
          <a:xfrm xmlns:a="http://schemas.openxmlformats.org/drawingml/2006/main">
            <a:off x="6362700" y="2381250"/>
            <a:ext cx="507682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72B40"/>
                </a:solidFill>
                <a:latin typeface="Lato"/>
                <a:ea typeface="Lato"/>
                <a:cs typeface="Lato"/>
              </a:defRPr>
            </a:pPr>
            <a:r>
              <a:rPr sz="2325" b="0">
                <a:solidFill>
                  <a:srgbClr val="172B40"/>
                </a:solidFill>
                <a:latin typeface="Lato"/>
                <a:ea typeface="Lato"/>
                <a:cs typeface="Lato"/>
              </a:rPr>
              <a:t>Report pain, illness, or a suspicious rash</a:t>
            </a:r>
          </a:p>
          <a:p xmlns:a="http://schemas.openxmlformats.org/drawingml/2006/main">
            <a:pPr>
              <a:buNone/>
              <a:defRPr sz="2325" b="0">
                <a:solidFill>
                  <a:srgbClr val="172B40"/>
                </a:solidFill>
                <a:latin typeface="Lato"/>
                <a:ea typeface="Lato"/>
                <a:cs typeface="Lato"/>
              </a:defRPr>
            </a:pPr>
            <a:r>
              <a:rPr sz="2325" b="0">
                <a:solidFill>
                  <a:srgbClr val="172B40"/>
                </a:solidFill>
                <a:latin typeface="Lato"/>
                <a:ea typeface="Lato"/>
                <a:cs typeface="Lato"/>
              </a:rPr>
              <a:t>Shower after wrestling and wash used gear</a:t>
            </a:r>
          </a:p>
          <a:p xmlns:a="http://schemas.openxmlformats.org/drawingml/2006/main">
            <a:pPr>
              <a:buNone/>
              <a:defRPr sz="2325" b="0">
                <a:solidFill>
                  <a:srgbClr val="172B40"/>
                </a:solidFill>
                <a:latin typeface="Lato"/>
                <a:ea typeface="Lato"/>
                <a:cs typeface="Lato"/>
              </a:defRPr>
            </a:pPr>
            <a:r>
              <a:rPr sz="2325" b="0">
                <a:solidFill>
                  <a:srgbClr val="172B40"/>
                </a:solidFill>
                <a:latin typeface="Lato"/>
                <a:ea typeface="Lato"/>
                <a:cs typeface="Lato"/>
              </a:rPr>
              <a:t>Regular meals and hydration, without weight cutting</a:t>
            </a:r>
          </a:p>
        </p:txBody>
      </p:sp>
      <p:sp>
        <p:nvSpPr>
          <p:cNvPr id="7" name="">
            <a:extLst xmlns:a="http://schemas.openxmlformats.org/drawingml/2006/main">
              <a:ext uri="{FF2B5EF4-FFF2-40B4-BE49-F238E27FC236}">
                <a16:creationId xmlns:a16="http://schemas.microsoft.com/office/drawing/2014/main" id="{5C06AD09-4323-4CF3-86D7-AD45624493E7}"/>
              </a:ext>
            </a:extLst>
          </p:cNvPr>
          <p:cNvSpPr>
            <a:spLocks xmlns:a="http://schemas.openxmlformats.org/drawingml/2006/main" noGrp="1"/>
          </p:cNvSpPr>
          <p:nvPr/>
        </p:nvSpPr>
        <p:spPr>
          <a:xfrm xmlns:a="http://schemas.openxmlformats.org/drawingml/2006/main">
            <a:off x="685800" y="5857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85C91"/>
                </a:solidFill>
                <a:latin typeface="Lato"/>
                <a:ea typeface="Lato"/>
                <a:cs typeface="Lato"/>
              </a:defRPr>
            </a:pPr>
            <a:r>
              <a:rPr sz="1875" b="1">
                <a:solidFill>
                  <a:srgbClr val="185C91"/>
                </a:solidFill>
                <a:latin typeface="Lato"/>
                <a:ea typeface="Lato"/>
                <a:cs typeface="Lato"/>
              </a:rPr>
              <a:t>Suspected concussion: stop participation, no return that day, medical clearance.</a:t>
            </a:r>
          </a:p>
        </p:txBody>
      </p:sp>
    </p:spTree>
    <p:extLst>
      <p:ext uri="{BB962C8B-B14F-4D97-AF65-F5344CB8AC3E}">
        <p14:creationId xmlns:p14="http://schemas.microsoft.com/office/powerpoint/2010/main" val="1979854122"/>
      </p:ext>
    </p:extLst>
  </p:cSld>
</p:sld>
</file>

<file path=ppt/slides/slide10.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47F5D2-8F09-4EA7-8AFB-5AC27083C3E6}"/>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72B40"/>
                </a:solidFill>
                <a:latin typeface="Lato"/>
                <a:ea typeface="Lato"/>
                <a:cs typeface="Lato"/>
              </a:defRPr>
            </a:pPr>
            <a:r>
              <a:rPr sz="3600" b="1">
                <a:solidFill>
                  <a:srgbClr val="172B40"/>
                </a:solidFill>
                <a:latin typeface="Lato"/>
                <a:ea typeface="Lato"/>
                <a:cs typeface="Lato"/>
              </a:rPr>
              <a:t>Parent and spectator conduct</a:t>
            </a:r>
          </a:p>
        </p:txBody>
      </p:sp>
      <p:sp>
        <p:nvSpPr>
          <p:cNvPr id="2" name="">
            <a:extLst xmlns:a="http://schemas.openxmlformats.org/drawingml/2006/main">
              <a:ext uri="{FF2B5EF4-FFF2-40B4-BE49-F238E27FC236}">
                <a16:creationId xmlns:a16="http://schemas.microsoft.com/office/drawing/2014/main" id="{8C6DF7FC-8589-4D0E-BFC2-507B53DEE199}"/>
              </a:ext>
            </a:extLst>
          </p:cNvPr>
          <p:cNvSpPr>
            <a:spLocks xmlns:a="http://schemas.openxmlformats.org/drawingml/2006/main" noGrp="1"/>
          </p:cNvSpPr>
          <p:nvPr/>
        </p:nvSpPr>
        <p:spPr>
          <a:xfrm xmlns:a="http://schemas.openxmlformats.org/drawingml/2006/main">
            <a:off x="11239500" y="6305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86177"/>
                </a:solidFill>
                <a:latin typeface="Lato"/>
                <a:ea typeface="Lato"/>
                <a:cs typeface="Lato"/>
              </a:defRPr>
            </a:pPr>
            <a:r>
              <a:rPr sz="1350" b="0">
                <a:solidFill>
                  <a:srgbClr val="486177"/>
                </a:solidFill>
                <a:latin typeface="Lato"/>
                <a:ea typeface="Lato"/>
                <a:cs typeface="Lato"/>
              </a:rPr>
              <a:t>10</a:t>
            </a:r>
          </a:p>
        </p:txBody>
      </p:sp>
      <p:sp>
        <p:nvSpPr>
          <p:cNvPr id="3" name="">
            <a:extLst xmlns:a="http://schemas.openxmlformats.org/drawingml/2006/main">
              <a:ext uri="{FF2B5EF4-FFF2-40B4-BE49-F238E27FC236}">
                <a16:creationId xmlns:a16="http://schemas.microsoft.com/office/drawing/2014/main" id="{DC41D961-3E4F-4A8D-BFC9-7436ACFB4A4A}"/>
              </a:ext>
            </a:extLst>
          </p:cNvPr>
          <p:cNvSpPr>
            <a:spLocks xmlns:a="http://schemas.openxmlformats.org/drawingml/2006/main" noGrp="1"/>
          </p:cNvSpPr>
          <p:nvPr/>
        </p:nvSpPr>
        <p:spPr>
          <a:xfrm xmlns:a="http://schemas.openxmlformats.org/drawingml/2006/main">
            <a:off x="685800" y="1695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4050" b="1">
                <a:solidFill>
                  <a:srgbClr val="185C91"/>
                </a:solidFill>
                <a:latin typeface="Lato"/>
                <a:ea typeface="Lato"/>
                <a:cs typeface="Lato"/>
              </a:defRPr>
            </a:pPr>
            <a:r>
              <a:rPr sz="4050" b="1">
                <a:solidFill>
                  <a:srgbClr val="185C91"/>
                </a:solidFill>
                <a:latin typeface="Lato"/>
                <a:ea typeface="Lato"/>
                <a:cs typeface="Lato"/>
              </a:rPr>
              <a:t>“I loved watching you wrestle.”</a:t>
            </a:r>
          </a:p>
        </p:txBody>
      </p:sp>
      <p:sp>
        <p:nvSpPr>
          <p:cNvPr id="4" name="">
            <a:extLst xmlns:a="http://schemas.openxmlformats.org/drawingml/2006/main">
              <a:ext uri="{FF2B5EF4-FFF2-40B4-BE49-F238E27FC236}">
                <a16:creationId xmlns:a16="http://schemas.microsoft.com/office/drawing/2014/main" id="{377291C3-A19C-4197-A5E0-ECE4387EC8D2}"/>
              </a:ext>
            </a:extLst>
          </p:cNvPr>
          <p:cNvSpPr>
            <a:spLocks xmlns:a="http://schemas.openxmlformats.org/drawingml/2006/main" noGrp="1"/>
          </p:cNvSpPr>
          <p:nvPr/>
        </p:nvSpPr>
        <p:spPr>
          <a:xfrm xmlns:a="http://schemas.openxmlformats.org/drawingml/2006/main">
            <a:off x="704850" y="3324225"/>
            <a:ext cx="200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185C91"/>
                </a:solidFill>
                <a:latin typeface="Lato"/>
                <a:ea typeface="Lato"/>
                <a:cs typeface="Lato"/>
              </a:defRPr>
            </a:pPr>
            <a:r>
              <a:rPr sz="2100" b="1">
                <a:solidFill>
                  <a:srgbClr val="185C91"/>
                </a:solidFill>
                <a:latin typeface="Lato"/>
                <a:ea typeface="Lato"/>
                <a:cs typeface="Lato"/>
              </a:rPr>
              <a:t>DURING</a:t>
            </a:r>
          </a:p>
        </p:txBody>
      </p:sp>
      <p:sp>
        <p:nvSpPr>
          <p:cNvPr id="5" name="">
            <a:extLst xmlns:a="http://schemas.openxmlformats.org/drawingml/2006/main">
              <a:ext uri="{FF2B5EF4-FFF2-40B4-BE49-F238E27FC236}">
                <a16:creationId xmlns:a16="http://schemas.microsoft.com/office/drawing/2014/main" id="{1805EF03-617A-4074-9216-0B2E89952F34}"/>
              </a:ext>
            </a:extLst>
          </p:cNvPr>
          <p:cNvSpPr>
            <a:spLocks xmlns:a="http://schemas.openxmlformats.org/drawingml/2006/main" noGrp="1"/>
          </p:cNvSpPr>
          <p:nvPr/>
        </p:nvSpPr>
        <p:spPr>
          <a:xfrm xmlns:a="http://schemas.openxmlformats.org/drawingml/2006/main">
            <a:off x="3028950" y="3286125"/>
            <a:ext cx="83534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0">
                <a:solidFill>
                  <a:srgbClr val="172B40"/>
                </a:solidFill>
                <a:latin typeface="Lato"/>
                <a:ea typeface="Lato"/>
                <a:cs typeface="Lato"/>
              </a:defRPr>
            </a:pPr>
            <a:r>
              <a:rPr sz="2550" b="0">
                <a:solidFill>
                  <a:srgbClr val="172B40"/>
                </a:solidFill>
                <a:latin typeface="Lato"/>
                <a:ea typeface="Lato"/>
                <a:cs typeface="Lato"/>
              </a:rPr>
              <a:t>Cheer effort. Let your child hear the coach.</a:t>
            </a:r>
          </a:p>
        </p:txBody>
      </p:sp>
      <p:sp>
        <p:nvSpPr>
          <p:cNvPr id="6" name="">
            <a:extLst xmlns:a="http://schemas.openxmlformats.org/drawingml/2006/main">
              <a:ext uri="{FF2B5EF4-FFF2-40B4-BE49-F238E27FC236}">
                <a16:creationId xmlns:a16="http://schemas.microsoft.com/office/drawing/2014/main" id="{5795C465-7EC3-41F1-8319-332619949DEF}"/>
              </a:ext>
            </a:extLst>
          </p:cNvPr>
          <p:cNvSpPr>
            <a:spLocks xmlns:a="http://schemas.openxmlformats.org/drawingml/2006/main" noGrp="1"/>
          </p:cNvSpPr>
          <p:nvPr/>
        </p:nvSpPr>
        <p:spPr>
          <a:xfrm xmlns:a="http://schemas.openxmlformats.org/drawingml/2006/main">
            <a:off x="704850" y="4324350"/>
            <a:ext cx="200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185C91"/>
                </a:solidFill>
                <a:latin typeface="Lato"/>
                <a:ea typeface="Lato"/>
                <a:cs typeface="Lato"/>
              </a:defRPr>
            </a:pPr>
            <a:r>
              <a:rPr sz="2100" b="1">
                <a:solidFill>
                  <a:srgbClr val="185C91"/>
                </a:solidFill>
                <a:latin typeface="Lato"/>
                <a:ea typeface="Lato"/>
                <a:cs typeface="Lato"/>
              </a:rPr>
              <a:t>MATSIDE</a:t>
            </a:r>
          </a:p>
        </p:txBody>
      </p:sp>
      <p:sp>
        <p:nvSpPr>
          <p:cNvPr id="7" name="">
            <a:extLst xmlns:a="http://schemas.openxmlformats.org/drawingml/2006/main">
              <a:ext uri="{FF2B5EF4-FFF2-40B4-BE49-F238E27FC236}">
                <a16:creationId xmlns:a16="http://schemas.microsoft.com/office/drawing/2014/main" id="{F18AAC24-2EAB-4398-87FA-AE290E22F815}"/>
              </a:ext>
            </a:extLst>
          </p:cNvPr>
          <p:cNvSpPr>
            <a:spLocks xmlns:a="http://schemas.openxmlformats.org/drawingml/2006/main" noGrp="1"/>
          </p:cNvSpPr>
          <p:nvPr/>
        </p:nvSpPr>
        <p:spPr>
          <a:xfrm xmlns:a="http://schemas.openxmlformats.org/drawingml/2006/main">
            <a:off x="3028950" y="4286250"/>
            <a:ext cx="83534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0">
                <a:solidFill>
                  <a:srgbClr val="172B40"/>
                </a:solidFill>
                <a:latin typeface="Lato"/>
                <a:ea typeface="Lato"/>
                <a:cs typeface="Lato"/>
              </a:defRPr>
            </a:pPr>
            <a:r>
              <a:rPr sz="2550" b="0">
                <a:solidFill>
                  <a:srgbClr val="172B40"/>
                </a:solidFill>
                <a:latin typeface="Lato"/>
                <a:ea typeface="Lato"/>
                <a:cs typeface="Lato"/>
              </a:rPr>
              <a:t>Only while your child wrestles or is next.</a:t>
            </a:r>
          </a:p>
        </p:txBody>
      </p:sp>
      <p:sp>
        <p:nvSpPr>
          <p:cNvPr id="8" name="">
            <a:extLst xmlns:a="http://schemas.openxmlformats.org/drawingml/2006/main">
              <a:ext uri="{FF2B5EF4-FFF2-40B4-BE49-F238E27FC236}">
                <a16:creationId xmlns:a16="http://schemas.microsoft.com/office/drawing/2014/main" id="{35B05C6D-1CDD-4364-9A24-02E431E9AE79}"/>
              </a:ext>
            </a:extLst>
          </p:cNvPr>
          <p:cNvSpPr>
            <a:spLocks xmlns:a="http://schemas.openxmlformats.org/drawingml/2006/main" noGrp="1"/>
          </p:cNvSpPr>
          <p:nvPr/>
        </p:nvSpPr>
        <p:spPr>
          <a:xfrm xmlns:a="http://schemas.openxmlformats.org/drawingml/2006/main">
            <a:off x="685800" y="5857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85C91"/>
                </a:solidFill>
                <a:latin typeface="Lato"/>
                <a:ea typeface="Lato"/>
                <a:cs typeface="Lato"/>
              </a:defRPr>
            </a:pPr>
            <a:r>
              <a:rPr sz="1875" b="1">
                <a:solidFill>
                  <a:srgbClr val="185C91"/>
                </a:solidFill>
                <a:latin typeface="Lato"/>
                <a:ea typeface="Lato"/>
                <a:cs typeface="Lato"/>
              </a:rPr>
              <a:t>Follow host access rules. Return to the spectator area after the match.</a:t>
            </a:r>
          </a:p>
        </p:txBody>
      </p:sp>
    </p:spTree>
    <p:extLst>
      <p:ext uri="{BB962C8B-B14F-4D97-AF65-F5344CB8AC3E}">
        <p14:creationId xmlns:p14="http://schemas.microsoft.com/office/powerpoint/2010/main" val="437281731"/>
      </p:ext>
    </p:extLst>
  </p:cSld>
</p:sld>
</file>

<file path=ppt/slides/slide1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9B971B0-AAB8-489A-AC25-D5EE8AC288F2}"/>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72B40"/>
                </a:solidFill>
                <a:latin typeface="Lato"/>
                <a:ea typeface="Lato"/>
                <a:cs typeface="Lato"/>
              </a:defRPr>
            </a:pPr>
            <a:r>
              <a:rPr sz="3600" b="1">
                <a:solidFill>
                  <a:srgbClr val="172B40"/>
                </a:solidFill>
                <a:latin typeface="Lato"/>
                <a:ea typeface="Lato"/>
                <a:cs typeface="Lato"/>
              </a:rPr>
              <a:t>Ready for the first match</a:t>
            </a:r>
          </a:p>
        </p:txBody>
      </p:sp>
      <p:sp>
        <p:nvSpPr>
          <p:cNvPr id="2" name="">
            <a:extLst xmlns:a="http://schemas.openxmlformats.org/drawingml/2006/main">
              <a:ext uri="{FF2B5EF4-FFF2-40B4-BE49-F238E27FC236}">
                <a16:creationId xmlns:a16="http://schemas.microsoft.com/office/drawing/2014/main" id="{4AACDA82-31EC-4EBD-8B9E-01A7941513D2}"/>
              </a:ext>
            </a:extLst>
          </p:cNvPr>
          <p:cNvSpPr>
            <a:spLocks xmlns:a="http://schemas.openxmlformats.org/drawingml/2006/main" noGrp="1"/>
          </p:cNvSpPr>
          <p:nvPr/>
        </p:nvSpPr>
        <p:spPr>
          <a:xfrm xmlns:a="http://schemas.openxmlformats.org/drawingml/2006/main">
            <a:off x="11239500" y="6305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86177"/>
                </a:solidFill>
                <a:latin typeface="Lato"/>
                <a:ea typeface="Lato"/>
                <a:cs typeface="Lato"/>
              </a:defRPr>
            </a:pPr>
            <a:r>
              <a:rPr sz="1350" b="0">
                <a:solidFill>
                  <a:srgbClr val="486177"/>
                </a:solidFill>
                <a:latin typeface="Lato"/>
                <a:ea typeface="Lato"/>
                <a:cs typeface="Lato"/>
              </a:rPr>
              <a:t>11</a:t>
            </a:r>
          </a:p>
        </p:txBody>
      </p:sp>
      <p:sp>
        <p:nvSpPr>
          <p:cNvPr id="3" name="">
            <a:extLst xmlns:a="http://schemas.openxmlformats.org/drawingml/2006/main">
              <a:ext uri="{FF2B5EF4-FFF2-40B4-BE49-F238E27FC236}">
                <a16:creationId xmlns:a16="http://schemas.microsoft.com/office/drawing/2014/main" id="{8AE17BE7-3C21-4472-A365-C862320997F4}"/>
              </a:ext>
            </a:extLst>
          </p:cNvPr>
          <p:cNvSpPr>
            <a:spLocks xmlns:a="http://schemas.openxmlformats.org/drawingml/2006/main" noGrp="1"/>
          </p:cNvSpPr>
          <p:nvPr/>
        </p:nvSpPr>
        <p:spPr>
          <a:xfrm xmlns:a="http://schemas.openxmlformats.org/drawingml/2006/main">
            <a:off x="685800" y="1695450"/>
            <a:ext cx="276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85C91"/>
                </a:solidFill>
                <a:latin typeface="Lato"/>
                <a:ea typeface="Lato"/>
                <a:cs typeface="Lato"/>
              </a:defRPr>
            </a:pPr>
            <a:r>
              <a:rPr sz="3600" b="1">
                <a:solidFill>
                  <a:srgbClr val="185C91"/>
                </a:solidFill>
                <a:latin typeface="Lato"/>
                <a:ea typeface="Lato"/>
                <a:cs typeface="Lato"/>
              </a:rPr>
              <a:t>3 / 1 / 2</a:t>
            </a:r>
          </a:p>
        </p:txBody>
      </p:sp>
      <p:sp>
        <p:nvSpPr>
          <p:cNvPr id="4" name="">
            <a:extLst xmlns:a="http://schemas.openxmlformats.org/drawingml/2006/main">
              <a:ext uri="{FF2B5EF4-FFF2-40B4-BE49-F238E27FC236}">
                <a16:creationId xmlns:a16="http://schemas.microsoft.com/office/drawing/2014/main" id="{8C0A5177-D646-447C-B4B5-15660FB2F109}"/>
              </a:ext>
            </a:extLst>
          </p:cNvPr>
          <p:cNvSpPr>
            <a:spLocks xmlns:a="http://schemas.openxmlformats.org/drawingml/2006/main" noGrp="1"/>
          </p:cNvSpPr>
          <p:nvPr/>
        </p:nvSpPr>
        <p:spPr>
          <a:xfrm xmlns:a="http://schemas.openxmlformats.org/drawingml/2006/main">
            <a:off x="3914775" y="1781175"/>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b="0">
                <a:solidFill>
                  <a:srgbClr val="172B40"/>
                </a:solidFill>
                <a:latin typeface="Lato"/>
                <a:ea typeface="Lato"/>
                <a:cs typeface="Lato"/>
              </a:defRPr>
            </a:pPr>
            <a:r>
              <a:rPr sz="2700" b="0">
                <a:solidFill>
                  <a:srgbClr val="172B40"/>
                </a:solidFill>
                <a:latin typeface="Lato"/>
                <a:ea typeface="Lato"/>
                <a:cs typeface="Lato"/>
              </a:rPr>
              <a:t>Takedown / escape / reversal</a:t>
            </a:r>
          </a:p>
        </p:txBody>
      </p:sp>
      <p:sp>
        <p:nvSpPr>
          <p:cNvPr id="5" name="">
            <a:extLst xmlns:a="http://schemas.openxmlformats.org/drawingml/2006/main">
              <a:ext uri="{FF2B5EF4-FFF2-40B4-BE49-F238E27FC236}">
                <a16:creationId xmlns:a16="http://schemas.microsoft.com/office/drawing/2014/main" id="{3BBCD742-48CB-4A81-A63B-C587C0092154}"/>
              </a:ext>
            </a:extLst>
          </p:cNvPr>
          <p:cNvSpPr>
            <a:spLocks xmlns:a="http://schemas.openxmlformats.org/drawingml/2006/main" noGrp="1"/>
          </p:cNvSpPr>
          <p:nvPr/>
        </p:nvSpPr>
        <p:spPr>
          <a:xfrm xmlns:a="http://schemas.openxmlformats.org/drawingml/2006/main">
            <a:off x="685800" y="2943225"/>
            <a:ext cx="276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b="1">
                <a:solidFill>
                  <a:srgbClr val="185C91"/>
                </a:solidFill>
                <a:latin typeface="Lato"/>
                <a:ea typeface="Lato"/>
                <a:cs typeface="Lato"/>
              </a:defRPr>
            </a:pPr>
            <a:r>
              <a:rPr sz="2700" b="1">
                <a:solidFill>
                  <a:srgbClr val="185C91"/>
                </a:solidFill>
                <a:latin typeface="Lato"/>
                <a:ea typeface="Lato"/>
                <a:cs typeface="Lato"/>
              </a:rPr>
              <a:t>PIN</a:t>
            </a:r>
          </a:p>
        </p:txBody>
      </p:sp>
      <p:sp>
        <p:nvSpPr>
          <p:cNvPr id="6" name="">
            <a:extLst xmlns:a="http://schemas.openxmlformats.org/drawingml/2006/main">
              <a:ext uri="{FF2B5EF4-FFF2-40B4-BE49-F238E27FC236}">
                <a16:creationId xmlns:a16="http://schemas.microsoft.com/office/drawing/2014/main" id="{DCB6BA10-8488-4CDA-96E9-D0EB3B28E335}"/>
              </a:ext>
            </a:extLst>
          </p:cNvPr>
          <p:cNvSpPr>
            <a:spLocks xmlns:a="http://schemas.openxmlformats.org/drawingml/2006/main" noGrp="1"/>
          </p:cNvSpPr>
          <p:nvPr/>
        </p:nvSpPr>
        <p:spPr>
          <a:xfrm xmlns:a="http://schemas.openxmlformats.org/drawingml/2006/main">
            <a:off x="3914775" y="3028950"/>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b="0">
                <a:solidFill>
                  <a:srgbClr val="172B40"/>
                </a:solidFill>
                <a:latin typeface="Lato"/>
                <a:ea typeface="Lato"/>
                <a:cs typeface="Lato"/>
              </a:defRPr>
            </a:pPr>
            <a:r>
              <a:rPr sz="2700" b="0">
                <a:solidFill>
                  <a:srgbClr val="172B40"/>
                </a:solidFill>
                <a:latin typeface="Lato"/>
                <a:ea typeface="Lato"/>
                <a:cs typeface="Lato"/>
              </a:rPr>
              <a:t>Ends the match, whatever the score</a:t>
            </a:r>
          </a:p>
        </p:txBody>
      </p:sp>
      <p:sp>
        <p:nvSpPr>
          <p:cNvPr id="7" name="">
            <a:extLst xmlns:a="http://schemas.openxmlformats.org/drawingml/2006/main">
              <a:ext uri="{FF2B5EF4-FFF2-40B4-BE49-F238E27FC236}">
                <a16:creationId xmlns:a16="http://schemas.microsoft.com/office/drawing/2014/main" id="{C511195F-DB84-4457-A081-3CC3CB5234A8}"/>
              </a:ext>
            </a:extLst>
          </p:cNvPr>
          <p:cNvSpPr>
            <a:spLocks xmlns:a="http://schemas.openxmlformats.org/drawingml/2006/main" noGrp="1"/>
          </p:cNvSpPr>
          <p:nvPr/>
        </p:nvSpPr>
        <p:spPr>
          <a:xfrm xmlns:a="http://schemas.openxmlformats.org/drawingml/2006/main">
            <a:off x="685800" y="4191000"/>
            <a:ext cx="276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b="1">
                <a:solidFill>
                  <a:srgbClr val="185C91"/>
                </a:solidFill>
                <a:latin typeface="Lato"/>
                <a:ea typeface="Lato"/>
                <a:cs typeface="Lato"/>
              </a:defRPr>
            </a:pPr>
            <a:r>
              <a:rPr sz="2700" b="1">
                <a:solidFill>
                  <a:srgbClr val="185C91"/>
                </a:solidFill>
                <a:latin typeface="Lato"/>
                <a:ea typeface="Lato"/>
                <a:cs typeface="Lato"/>
              </a:rPr>
              <a:t>YOUR JOB</a:t>
            </a:r>
          </a:p>
        </p:txBody>
      </p:sp>
      <p:sp>
        <p:nvSpPr>
          <p:cNvPr id="8" name="">
            <a:extLst xmlns:a="http://schemas.openxmlformats.org/drawingml/2006/main">
              <a:ext uri="{FF2B5EF4-FFF2-40B4-BE49-F238E27FC236}">
                <a16:creationId xmlns:a16="http://schemas.microsoft.com/office/drawing/2014/main" id="{4B68B85D-8FE3-4346-A4AB-42987CEF313C}"/>
              </a:ext>
            </a:extLst>
          </p:cNvPr>
          <p:cNvSpPr>
            <a:spLocks xmlns:a="http://schemas.openxmlformats.org/drawingml/2006/main" noGrp="1"/>
          </p:cNvSpPr>
          <p:nvPr/>
        </p:nvSpPr>
        <p:spPr>
          <a:xfrm xmlns:a="http://schemas.openxmlformats.org/drawingml/2006/main">
            <a:off x="3914775" y="4276725"/>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b="0">
                <a:solidFill>
                  <a:srgbClr val="172B40"/>
                </a:solidFill>
                <a:latin typeface="Lato"/>
                <a:ea typeface="Lato"/>
                <a:cs typeface="Lato"/>
              </a:defRPr>
            </a:pPr>
            <a:r>
              <a:rPr sz="2700" b="0">
                <a:solidFill>
                  <a:srgbClr val="172B40"/>
                </a:solidFill>
                <a:latin typeface="Lato"/>
                <a:ea typeface="Lato"/>
                <a:cs typeface="Lato"/>
              </a:rPr>
              <a:t>Know the mat, find the coach, encourage your child</a:t>
            </a:r>
          </a:p>
        </p:txBody>
      </p:sp>
      <p:sp>
        <p:nvSpPr>
          <p:cNvPr id="9" name="">
            <a:extLst xmlns:a="http://schemas.openxmlformats.org/drawingml/2006/main">
              <a:ext uri="{FF2B5EF4-FFF2-40B4-BE49-F238E27FC236}">
                <a16:creationId xmlns:a16="http://schemas.microsoft.com/office/drawing/2014/main" id="{C4CAD405-C65A-4CD4-86D0-E86E4325EEEE}"/>
              </a:ext>
            </a:extLst>
          </p:cNvPr>
          <p:cNvSpPr>
            <a:spLocks xmlns:a="http://schemas.openxmlformats.org/drawingml/2006/main" noGrp="1"/>
          </p:cNvSpPr>
          <p:nvPr/>
        </p:nvSpPr>
        <p:spPr>
          <a:xfrm xmlns:a="http://schemas.openxmlformats.org/drawingml/2006/main">
            <a:off x="685800" y="5857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85C91"/>
                </a:solidFill>
                <a:latin typeface="Lato"/>
                <a:ea typeface="Lato"/>
                <a:cs typeface="Lato"/>
              </a:defRPr>
            </a:pPr>
            <a:r>
              <a:rPr sz="1875" b="1">
                <a:solidFill>
                  <a:srgbClr val="185C91"/>
                </a:solidFill>
                <a:latin typeface="Lato"/>
                <a:ea typeface="Lato"/>
                <a:cs typeface="Lato"/>
              </a:rPr>
              <a:t>The handout includes the FAQ, common penalties and optional QR links.</a:t>
            </a:r>
          </a:p>
        </p:txBody>
      </p:sp>
    </p:spTree>
    <p:extLst>
      <p:ext uri="{BB962C8B-B14F-4D97-AF65-F5344CB8AC3E}">
        <p14:creationId xmlns:p14="http://schemas.microsoft.com/office/powerpoint/2010/main" val="1786680076"/>
      </p:ext>
    </p:extLst>
  </p:cSld>
</p:sld>
</file>

<file path=ppt/slides/slide1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1880E9-F74E-4E65-A9D8-EEB351507462}"/>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72B40"/>
                </a:solidFill>
                <a:latin typeface="Lato"/>
                <a:ea typeface="Lato"/>
                <a:cs typeface="Lato"/>
              </a:defRPr>
            </a:pPr>
            <a:r>
              <a:rPr sz="3600" b="1">
                <a:solidFill>
                  <a:srgbClr val="172B40"/>
                </a:solidFill>
                <a:latin typeface="Lato"/>
                <a:ea typeface="Lato"/>
                <a:cs typeface="Lato"/>
              </a:rPr>
              <a:t>Parent questions</a:t>
            </a:r>
          </a:p>
        </p:txBody>
      </p:sp>
      <p:sp>
        <p:nvSpPr>
          <p:cNvPr id="2" name="">
            <a:extLst xmlns:a="http://schemas.openxmlformats.org/drawingml/2006/main">
              <a:ext uri="{FF2B5EF4-FFF2-40B4-BE49-F238E27FC236}">
                <a16:creationId xmlns:a16="http://schemas.microsoft.com/office/drawing/2014/main" id="{EF4610AB-E827-460C-8C2B-68C7184A21C6}"/>
              </a:ext>
            </a:extLst>
          </p:cNvPr>
          <p:cNvSpPr>
            <a:spLocks xmlns:a="http://schemas.openxmlformats.org/drawingml/2006/main" noGrp="1"/>
          </p:cNvSpPr>
          <p:nvPr/>
        </p:nvSpPr>
        <p:spPr>
          <a:xfrm xmlns:a="http://schemas.openxmlformats.org/drawingml/2006/main">
            <a:off x="11239500" y="6305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86177"/>
                </a:solidFill>
                <a:latin typeface="Lato"/>
                <a:ea typeface="Lato"/>
                <a:cs typeface="Lato"/>
              </a:defRPr>
            </a:pPr>
            <a:r>
              <a:rPr sz="1350" b="0">
                <a:solidFill>
                  <a:srgbClr val="486177"/>
                </a:solidFill>
                <a:latin typeface="Lato"/>
                <a:ea typeface="Lato"/>
                <a:cs typeface="Lato"/>
              </a:rPr>
              <a:t>12</a:t>
            </a:r>
          </a:p>
        </p:txBody>
      </p:sp>
      <p:sp>
        <p:nvSpPr>
          <p:cNvPr id="3" name="">
            <a:extLst xmlns:a="http://schemas.openxmlformats.org/drawingml/2006/main">
              <a:ext uri="{FF2B5EF4-FFF2-40B4-BE49-F238E27FC236}">
                <a16:creationId xmlns:a16="http://schemas.microsoft.com/office/drawing/2014/main" id="{B1428685-B54A-4F18-9731-D5B2DBEF7A7D}"/>
              </a:ext>
            </a:extLst>
          </p:cNvPr>
          <p:cNvSpPr>
            <a:spLocks xmlns:a="http://schemas.openxmlformats.org/drawingml/2006/main" noGrp="1"/>
          </p:cNvSpPr>
          <p:nvPr/>
        </p:nvSpPr>
        <p:spPr>
          <a:xfrm xmlns:a="http://schemas.openxmlformats.org/drawingml/2006/main">
            <a:off x="685800" y="1828800"/>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185C91"/>
                </a:solidFill>
                <a:latin typeface="Lato"/>
                <a:ea typeface="Lato"/>
                <a:cs typeface="Lato"/>
              </a:defRPr>
            </a:pPr>
            <a:r>
              <a:rPr sz="2175" b="1">
                <a:solidFill>
                  <a:srgbClr val="185C91"/>
                </a:solidFill>
                <a:latin typeface="Lato"/>
                <a:ea typeface="Lato"/>
                <a:cs typeface="Lato"/>
              </a:rPr>
              <a:t>SCORING</a:t>
            </a:r>
          </a:p>
        </p:txBody>
      </p:sp>
      <p:sp>
        <p:nvSpPr>
          <p:cNvPr id="4" name="">
            <a:extLst xmlns:a="http://schemas.openxmlformats.org/drawingml/2006/main">
              <a:ext uri="{FF2B5EF4-FFF2-40B4-BE49-F238E27FC236}">
                <a16:creationId xmlns:a16="http://schemas.microsoft.com/office/drawing/2014/main" id="{0EF485EC-23F5-45FB-B7FB-5DB89B4E10D2}"/>
              </a:ext>
            </a:extLst>
          </p:cNvPr>
          <p:cNvSpPr>
            <a:spLocks xmlns:a="http://schemas.openxmlformats.org/drawingml/2006/main" noGrp="1"/>
          </p:cNvSpPr>
          <p:nvPr/>
        </p:nvSpPr>
        <p:spPr>
          <a:xfrm xmlns:a="http://schemas.openxmlformats.org/drawingml/2006/main">
            <a:off x="4000500" y="1790700"/>
            <a:ext cx="7410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b="0">
                <a:solidFill>
                  <a:srgbClr val="172B40"/>
                </a:solidFill>
                <a:latin typeface="Lato"/>
                <a:ea typeface="Lato"/>
                <a:cs typeface="Lato"/>
              </a:defRPr>
            </a:pPr>
            <a:r>
              <a:rPr sz="2700" b="0">
                <a:solidFill>
                  <a:srgbClr val="172B40"/>
                </a:solidFill>
                <a:latin typeface="Lato"/>
                <a:ea typeface="Lato"/>
                <a:cs typeface="Lato"/>
              </a:rPr>
              <a:t>What was that point for?</a:t>
            </a:r>
          </a:p>
        </p:txBody>
      </p:sp>
      <p:sp>
        <p:nvSpPr>
          <p:cNvPr id="5" name="">
            <a:extLst xmlns:a="http://schemas.openxmlformats.org/drawingml/2006/main">
              <a:ext uri="{FF2B5EF4-FFF2-40B4-BE49-F238E27FC236}">
                <a16:creationId xmlns:a16="http://schemas.microsoft.com/office/drawing/2014/main" id="{23D5B534-DE6B-4A09-8619-38571738D021}"/>
              </a:ext>
            </a:extLst>
          </p:cNvPr>
          <p:cNvSpPr>
            <a:spLocks xmlns:a="http://schemas.openxmlformats.org/drawingml/2006/main" noGrp="1"/>
          </p:cNvSpPr>
          <p:nvPr/>
        </p:nvSpPr>
        <p:spPr>
          <a:xfrm xmlns:a="http://schemas.openxmlformats.org/drawingml/2006/main">
            <a:off x="685800" y="3086100"/>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185C91"/>
                </a:solidFill>
                <a:latin typeface="Lato"/>
                <a:ea typeface="Lato"/>
                <a:cs typeface="Lato"/>
              </a:defRPr>
            </a:pPr>
            <a:r>
              <a:rPr sz="2175" b="1">
                <a:solidFill>
                  <a:srgbClr val="185C91"/>
                </a:solidFill>
                <a:latin typeface="Lato"/>
                <a:ea typeface="Lato"/>
                <a:cs typeface="Lato"/>
              </a:rPr>
              <a:t>MATCH FLOW</a:t>
            </a:r>
          </a:p>
        </p:txBody>
      </p:sp>
      <p:sp>
        <p:nvSpPr>
          <p:cNvPr id="6" name="">
            <a:extLst xmlns:a="http://schemas.openxmlformats.org/drawingml/2006/main">
              <a:ext uri="{FF2B5EF4-FFF2-40B4-BE49-F238E27FC236}">
                <a16:creationId xmlns:a16="http://schemas.microsoft.com/office/drawing/2014/main" id="{01C4C577-E1EA-4524-B41F-1154ACA185A9}"/>
              </a:ext>
            </a:extLst>
          </p:cNvPr>
          <p:cNvSpPr>
            <a:spLocks xmlns:a="http://schemas.openxmlformats.org/drawingml/2006/main" noGrp="1"/>
          </p:cNvSpPr>
          <p:nvPr/>
        </p:nvSpPr>
        <p:spPr>
          <a:xfrm xmlns:a="http://schemas.openxmlformats.org/drawingml/2006/main">
            <a:off x="4000500" y="3048000"/>
            <a:ext cx="7410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b="0">
                <a:solidFill>
                  <a:srgbClr val="172B40"/>
                </a:solidFill>
                <a:latin typeface="Lato"/>
                <a:ea typeface="Lato"/>
                <a:cs typeface="Lato"/>
              </a:defRPr>
            </a:pPr>
            <a:r>
              <a:rPr sz="2700" b="0">
                <a:solidFill>
                  <a:srgbClr val="172B40"/>
                </a:solidFill>
                <a:latin typeface="Lato"/>
                <a:ea typeface="Lato"/>
                <a:cs typeface="Lato"/>
              </a:rPr>
              <a:t>Why did they stop or change positions?</a:t>
            </a:r>
          </a:p>
        </p:txBody>
      </p:sp>
      <p:sp>
        <p:nvSpPr>
          <p:cNvPr id="7" name="">
            <a:extLst xmlns:a="http://schemas.openxmlformats.org/drawingml/2006/main">
              <a:ext uri="{FF2B5EF4-FFF2-40B4-BE49-F238E27FC236}">
                <a16:creationId xmlns:a16="http://schemas.microsoft.com/office/drawing/2014/main" id="{3EE20296-84F3-4DA9-A809-423A65A1FD0D}"/>
              </a:ext>
            </a:extLst>
          </p:cNvPr>
          <p:cNvSpPr>
            <a:spLocks xmlns:a="http://schemas.openxmlformats.org/drawingml/2006/main" noGrp="1"/>
          </p:cNvSpPr>
          <p:nvPr/>
        </p:nvSpPr>
        <p:spPr>
          <a:xfrm xmlns:a="http://schemas.openxmlformats.org/drawingml/2006/main">
            <a:off x="685800" y="4343400"/>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185C91"/>
                </a:solidFill>
                <a:latin typeface="Lato"/>
                <a:ea typeface="Lato"/>
                <a:cs typeface="Lato"/>
              </a:defRPr>
            </a:pPr>
            <a:r>
              <a:rPr sz="2175" b="1">
                <a:solidFill>
                  <a:srgbClr val="185C91"/>
                </a:solidFill>
                <a:latin typeface="Lato"/>
                <a:ea typeface="Lato"/>
                <a:cs typeface="Lato"/>
              </a:rPr>
              <a:t>MEET DAY</a:t>
            </a:r>
          </a:p>
        </p:txBody>
      </p:sp>
      <p:sp>
        <p:nvSpPr>
          <p:cNvPr id="8" name="">
            <a:extLst xmlns:a="http://schemas.openxmlformats.org/drawingml/2006/main">
              <a:ext uri="{FF2B5EF4-FFF2-40B4-BE49-F238E27FC236}">
                <a16:creationId xmlns:a16="http://schemas.microsoft.com/office/drawing/2014/main" id="{1CD6899C-7BA9-4211-82D3-A620AC0B32D9}"/>
              </a:ext>
            </a:extLst>
          </p:cNvPr>
          <p:cNvSpPr>
            <a:spLocks xmlns:a="http://schemas.openxmlformats.org/drawingml/2006/main" noGrp="1"/>
          </p:cNvSpPr>
          <p:nvPr/>
        </p:nvSpPr>
        <p:spPr>
          <a:xfrm xmlns:a="http://schemas.openxmlformats.org/drawingml/2006/main">
            <a:off x="4000500" y="4305300"/>
            <a:ext cx="7410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b="0">
                <a:solidFill>
                  <a:srgbClr val="172B40"/>
                </a:solidFill>
                <a:latin typeface="Lato"/>
                <a:ea typeface="Lato"/>
                <a:cs typeface="Lato"/>
              </a:defRPr>
            </a:pPr>
            <a:r>
              <a:rPr sz="2700" b="0">
                <a:solidFill>
                  <a:srgbClr val="172B40"/>
                </a:solidFill>
                <a:latin typeface="Lato"/>
                <a:ea typeface="Lato"/>
                <a:cs typeface="Lato"/>
              </a:rPr>
              <a:t>Where do we go next?</a:t>
            </a:r>
          </a:p>
        </p:txBody>
      </p:sp>
      <p:sp>
        <p:nvSpPr>
          <p:cNvPr id="9" name="">
            <a:extLst xmlns:a="http://schemas.openxmlformats.org/drawingml/2006/main">
              <a:ext uri="{FF2B5EF4-FFF2-40B4-BE49-F238E27FC236}">
                <a16:creationId xmlns:a16="http://schemas.microsoft.com/office/drawing/2014/main" id="{C5F07C7B-4C82-4439-9502-8DB38CFE6D64}"/>
              </a:ext>
            </a:extLst>
          </p:cNvPr>
          <p:cNvSpPr>
            <a:spLocks xmlns:a="http://schemas.openxmlformats.org/drawingml/2006/main" noGrp="1"/>
          </p:cNvSpPr>
          <p:nvPr/>
        </p:nvSpPr>
        <p:spPr>
          <a:xfrm xmlns:a="http://schemas.openxmlformats.org/drawingml/2006/main">
            <a:off x="685800" y="5857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85C91"/>
                </a:solidFill>
                <a:latin typeface="Lato"/>
                <a:ea typeface="Lato"/>
                <a:cs typeface="Lato"/>
              </a:defRPr>
            </a:pPr>
            <a:r>
              <a:rPr sz="1875" b="1">
                <a:solidFill>
                  <a:srgbClr val="185C91"/>
                </a:solidFill>
                <a:latin typeface="Lato"/>
                <a:ea typeface="Lato"/>
                <a:cs typeface="Lato"/>
              </a:rPr>
              <a:t>Your coach can confirm the current event details.</a:t>
            </a:r>
          </a:p>
        </p:txBody>
      </p:sp>
    </p:spTree>
    <p:extLst>
      <p:ext uri="{BB962C8B-B14F-4D97-AF65-F5344CB8AC3E}">
        <p14:creationId xmlns:p14="http://schemas.microsoft.com/office/powerpoint/2010/main" val="848295045"/>
      </p:ext>
    </p:extLst>
  </p:cSld>
</p:sld>
</file>

<file path=ppt/slides/slide1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F148B5-E68A-4FAD-ACD9-205636633A6A}"/>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72B40"/>
                </a:solidFill>
                <a:latin typeface="Lato"/>
                <a:ea typeface="Lato"/>
                <a:cs typeface="Lato"/>
              </a:defRPr>
            </a:pPr>
            <a:r>
              <a:rPr sz="3600" b="1">
                <a:solidFill>
                  <a:srgbClr val="172B40"/>
                </a:solidFill>
                <a:latin typeface="Lato"/>
                <a:ea typeface="Lato"/>
                <a:cs typeface="Lato"/>
              </a:rPr>
              <a:t>Match points and team points</a:t>
            </a:r>
          </a:p>
        </p:txBody>
      </p:sp>
      <p:sp>
        <p:nvSpPr>
          <p:cNvPr id="2" name="">
            <a:extLst xmlns:a="http://schemas.openxmlformats.org/drawingml/2006/main">
              <a:ext uri="{FF2B5EF4-FFF2-40B4-BE49-F238E27FC236}">
                <a16:creationId xmlns:a16="http://schemas.microsoft.com/office/drawing/2014/main" id="{11AA6298-6AC0-4D2B-8DD8-0C1A719512A2}"/>
              </a:ext>
            </a:extLst>
          </p:cNvPr>
          <p:cNvSpPr>
            <a:spLocks xmlns:a="http://schemas.openxmlformats.org/drawingml/2006/main" noGrp="1"/>
          </p:cNvSpPr>
          <p:nvPr/>
        </p:nvSpPr>
        <p:spPr>
          <a:xfrm xmlns:a="http://schemas.openxmlformats.org/drawingml/2006/main">
            <a:off x="11239500" y="6305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86177"/>
                </a:solidFill>
                <a:latin typeface="Lato"/>
                <a:ea typeface="Lato"/>
                <a:cs typeface="Lato"/>
              </a:defRPr>
            </a:pPr>
            <a:r>
              <a:rPr sz="1350" b="0">
                <a:solidFill>
                  <a:srgbClr val="486177"/>
                </a:solidFill>
                <a:latin typeface="Lato"/>
                <a:ea typeface="Lato"/>
                <a:cs typeface="Lato"/>
              </a:rPr>
              <a:t>13</a:t>
            </a:r>
          </a:p>
        </p:txBody>
      </p:sp>
      <p:graphicFrame>
        <p:nvGraphicFramePr>
          <p:cNvPr id="10" name=""/>
          <p:cNvGraphicFramePr/>
          <p:nvPr/>
        </p:nvGraphicFramePr>
        <p:xfrm>
          <a:off xmlns:a="http://schemas.openxmlformats.org/drawingml/2006/main" x="685800" y="1704975"/>
          <a:ext xmlns:a="http://schemas.openxmlformats.org/drawingml/2006/main" cx="10820400" cy="3381375"/>
        </p:xfrm>
        <a:graphic xmlns:a="http://schemas.openxmlformats.org/drawingml/2006/main">
          <a:graphicData uri="http://schemas.openxmlformats.org/drawingml/2006/table">
            <a:tbl>
              <a:tblPr/>
              <a:tblGrid>
                <a:gridCol w="8439150"/>
                <a:gridCol w="2381250"/>
              </a:tblGrid>
              <a:tr h="676275">
                <a:tc>
                  <a:txBody>
                    <a:bodyPr/>
                    <a:lstStyle/>
                    <a:p>
                      <a:pPr algn="l">
                        <a:buNone/>
                      </a:pPr>
                      <a:r>
                        <a:rPr sz="1725" b="1">
                          <a:solidFill>
                            <a:srgbClr val="FFFFFF"/>
                          </a:solidFill>
                          <a:latin typeface="Lato"/>
                          <a:ea typeface="Lato"/>
                          <a:cs typeface="Lato"/>
                        </a:rPr>
                        <a:t>STANDARD NFHS DUAL RESULT</a:t>
                      </a:r>
                    </a:p>
                  </a:txBody>
                  <a:tcPr marL="152400" marR="152400" marT="95250" marB="95250" anchor="ctr">
                    <a:solidFill>
                      <a:srgbClr val="172B40"/>
                    </a:solidFill>
                  </a:tcPr>
                </a:tc>
                <a:tc>
                  <a:txBody>
                    <a:bodyPr/>
                    <a:lstStyle/>
                    <a:p>
                      <a:pPr algn="ctr">
                        <a:buNone/>
                      </a:pPr>
                      <a:r>
                        <a:rPr sz="1725" b="1">
                          <a:solidFill>
                            <a:srgbClr val="FFFFFF"/>
                          </a:solidFill>
                          <a:latin typeface="Lato"/>
                          <a:ea typeface="Lato"/>
                          <a:cs typeface="Lato"/>
                        </a:rPr>
                        <a:t>TEAM POINTS</a:t>
                      </a:r>
                    </a:p>
                  </a:txBody>
                  <a:tcPr marL="152400" marR="152400" marT="95250" marB="95250" anchor="ctr">
                    <a:solidFill>
                      <a:srgbClr val="172B40"/>
                    </a:solidFill>
                  </a:tcPr>
                </a:tc>
              </a:tr>
              <a:tr h="676275">
                <a:tc>
                  <a:txBody>
                    <a:bodyPr/>
                    <a:lstStyle/>
                    <a:p>
                      <a:pPr algn="l">
                        <a:buNone/>
                      </a:pPr>
                      <a:r>
                        <a:rPr sz="2175" b="0">
                          <a:solidFill>
                            <a:srgbClr val="172B40"/>
                          </a:solidFill>
                          <a:latin typeface="Lato"/>
                          <a:ea typeface="Lato"/>
                          <a:cs typeface="Lato"/>
                        </a:rPr>
                        <a:t>Decision, margin 1–7</a:t>
                      </a:r>
                    </a:p>
                  </a:txBody>
                  <a:tcPr marL="152400" marR="152400" marT="95250" marB="95250" anchor="ctr">
                    <a:solidFill>
                      <a:srgbClr val="EAF1F6"/>
                    </a:solidFill>
                  </a:tcPr>
                </a:tc>
                <a:tc>
                  <a:txBody>
                    <a:bodyPr/>
                    <a:lstStyle/>
                    <a:p>
                      <a:pPr algn="ctr">
                        <a:buNone/>
                      </a:pPr>
                      <a:r>
                        <a:rPr sz="2175" b="0">
                          <a:solidFill>
                            <a:srgbClr val="172B40"/>
                          </a:solidFill>
                          <a:latin typeface="Lato"/>
                          <a:ea typeface="Lato"/>
                          <a:cs typeface="Lato"/>
                        </a:rPr>
                        <a:t>3</a:t>
                      </a:r>
                    </a:p>
                  </a:txBody>
                  <a:tcPr marL="152400" marR="152400" marT="95250" marB="95250" anchor="ctr">
                    <a:solidFill>
                      <a:srgbClr val="EAF1F6"/>
                    </a:solidFill>
                  </a:tcPr>
                </a:tc>
              </a:tr>
              <a:tr h="676275">
                <a:tc>
                  <a:txBody>
                    <a:bodyPr/>
                    <a:lstStyle/>
                    <a:p>
                      <a:pPr algn="l">
                        <a:buNone/>
                      </a:pPr>
                      <a:r>
                        <a:rPr sz="2175" b="0">
                          <a:solidFill>
                            <a:srgbClr val="172B40"/>
                          </a:solidFill>
                          <a:latin typeface="Lato"/>
                          <a:ea typeface="Lato"/>
                          <a:cs typeface="Lato"/>
                        </a:rPr>
                        <a:t>Major decision, margin 8–14</a:t>
                      </a:r>
                    </a:p>
                  </a:txBody>
                  <a:tcPr marL="152400" marR="152400" marT="95250" marB="95250" anchor="ctr">
                    <a:solidFill>
                      <a:srgbClr val="FAFBFC"/>
                    </a:solidFill>
                  </a:tcPr>
                </a:tc>
                <a:tc>
                  <a:txBody>
                    <a:bodyPr/>
                    <a:lstStyle/>
                    <a:p>
                      <a:pPr algn="ctr">
                        <a:buNone/>
                      </a:pPr>
                      <a:r>
                        <a:rPr sz="2175" b="0">
                          <a:solidFill>
                            <a:srgbClr val="172B40"/>
                          </a:solidFill>
                          <a:latin typeface="Lato"/>
                          <a:ea typeface="Lato"/>
                          <a:cs typeface="Lato"/>
                        </a:rPr>
                        <a:t>4</a:t>
                      </a:r>
                    </a:p>
                  </a:txBody>
                  <a:tcPr marL="152400" marR="152400" marT="95250" marB="95250" anchor="ctr">
                    <a:solidFill>
                      <a:srgbClr val="FAFBFC"/>
                    </a:solidFill>
                  </a:tcPr>
                </a:tc>
              </a:tr>
              <a:tr h="676275">
                <a:tc>
                  <a:txBody>
                    <a:bodyPr/>
                    <a:lstStyle/>
                    <a:p>
                      <a:pPr algn="l">
                        <a:buNone/>
                      </a:pPr>
                      <a:r>
                        <a:rPr sz="2175" b="0">
                          <a:solidFill>
                            <a:srgbClr val="172B40"/>
                          </a:solidFill>
                          <a:latin typeface="Lato"/>
                          <a:ea typeface="Lato"/>
                          <a:cs typeface="Lato"/>
                        </a:rPr>
                        <a:t>Technical fall, margin 15+</a:t>
                      </a:r>
                    </a:p>
                  </a:txBody>
                  <a:tcPr marL="152400" marR="152400" marT="95250" marB="95250" anchor="ctr">
                    <a:solidFill>
                      <a:srgbClr val="EAF1F6"/>
                    </a:solidFill>
                  </a:tcPr>
                </a:tc>
                <a:tc>
                  <a:txBody>
                    <a:bodyPr/>
                    <a:lstStyle/>
                    <a:p>
                      <a:pPr algn="ctr">
                        <a:buNone/>
                      </a:pPr>
                      <a:r>
                        <a:rPr sz="2175" b="0">
                          <a:solidFill>
                            <a:srgbClr val="172B40"/>
                          </a:solidFill>
                          <a:latin typeface="Lato"/>
                          <a:ea typeface="Lato"/>
                          <a:cs typeface="Lato"/>
                        </a:rPr>
                        <a:t>5</a:t>
                      </a:r>
                    </a:p>
                  </a:txBody>
                  <a:tcPr marL="152400" marR="152400" marT="95250" marB="95250" anchor="ctr">
                    <a:solidFill>
                      <a:srgbClr val="EAF1F6"/>
                    </a:solidFill>
                  </a:tcPr>
                </a:tc>
              </a:tr>
              <a:tr h="676275">
                <a:tc>
                  <a:txBody>
                    <a:bodyPr/>
                    <a:lstStyle/>
                    <a:p>
                      <a:pPr algn="l">
                        <a:buNone/>
                      </a:pPr>
                      <a:r>
                        <a:rPr sz="2175" b="0">
                          <a:solidFill>
                            <a:srgbClr val="172B40"/>
                          </a:solidFill>
                          <a:latin typeface="Lato"/>
                          <a:ea typeface="Lato"/>
                          <a:cs typeface="Lato"/>
                        </a:rPr>
                        <a:t>Pin, forfeit, default or disqualification</a:t>
                      </a:r>
                    </a:p>
                  </a:txBody>
                  <a:tcPr marL="152400" marR="152400" marT="95250" marB="95250" anchor="ctr">
                    <a:solidFill>
                      <a:srgbClr val="FAFBFC"/>
                    </a:solidFill>
                  </a:tcPr>
                </a:tc>
                <a:tc>
                  <a:txBody>
                    <a:bodyPr/>
                    <a:lstStyle/>
                    <a:p>
                      <a:pPr algn="ctr">
                        <a:buNone/>
                      </a:pPr>
                      <a:r>
                        <a:rPr sz="2175" b="0">
                          <a:solidFill>
                            <a:srgbClr val="172B40"/>
                          </a:solidFill>
                          <a:latin typeface="Lato"/>
                          <a:ea typeface="Lato"/>
                          <a:cs typeface="Lato"/>
                        </a:rPr>
                        <a:t>6</a:t>
                      </a:r>
                    </a:p>
                  </a:txBody>
                  <a:tcPr marL="152400" marR="152400" marT="95250" marB="95250" anchor="ctr">
                    <a:solidFill>
                      <a:srgbClr val="FAFBFC"/>
                    </a:solidFill>
                  </a:tcPr>
                </a:tc>
              </a:tr>
            </a:tbl>
          </a:graphicData>
        </a:graphic>
      </p:graphicFrame>
      <p:sp>
        <p:nvSpPr>
          <p:cNvPr id="4" name="">
            <a:extLst xmlns:a="http://schemas.openxmlformats.org/drawingml/2006/main">
              <a:ext uri="{FF2B5EF4-FFF2-40B4-BE49-F238E27FC236}">
                <a16:creationId xmlns:a16="http://schemas.microsoft.com/office/drawing/2014/main" id="{50D7239B-5B09-4126-B372-1A619DFB2EE0}"/>
              </a:ext>
            </a:extLst>
          </p:cNvPr>
          <p:cNvSpPr>
            <a:spLocks xmlns:a="http://schemas.openxmlformats.org/drawingml/2006/main" noGrp="1"/>
          </p:cNvSpPr>
          <p:nvPr/>
        </p:nvSpPr>
        <p:spPr>
          <a:xfrm xmlns:a="http://schemas.openxmlformats.org/drawingml/2006/main">
            <a:off x="685800" y="53054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172B40"/>
                </a:solidFill>
                <a:latin typeface="Lato"/>
                <a:ea typeface="Lato"/>
                <a:cs typeface="Lato"/>
              </a:defRPr>
            </a:pPr>
            <a:r>
              <a:rPr sz="2175" b="1">
                <a:solidFill>
                  <a:srgbClr val="172B40"/>
                </a:solidFill>
                <a:latin typeface="Lato"/>
                <a:ea typeface="Lato"/>
                <a:cs typeface="Lato"/>
              </a:rPr>
              <a:t>A pin does not add six points to the individual match score.</a:t>
            </a:r>
          </a:p>
        </p:txBody>
      </p:sp>
      <p:sp>
        <p:nvSpPr>
          <p:cNvPr id="5" name="">
            <a:extLst xmlns:a="http://schemas.openxmlformats.org/drawingml/2006/main">
              <a:ext uri="{FF2B5EF4-FFF2-40B4-BE49-F238E27FC236}">
                <a16:creationId xmlns:a16="http://schemas.microsoft.com/office/drawing/2014/main" id="{D1898DB4-859F-4412-A1F0-BDA19194FB31}"/>
              </a:ext>
            </a:extLst>
          </p:cNvPr>
          <p:cNvSpPr>
            <a:spLocks xmlns:a="http://schemas.openxmlformats.org/drawingml/2006/main" noGrp="1"/>
          </p:cNvSpPr>
          <p:nvPr/>
        </p:nvSpPr>
        <p:spPr>
          <a:xfrm xmlns:a="http://schemas.openxmlformats.org/drawingml/2006/main">
            <a:off x="685800" y="5857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85C91"/>
                </a:solidFill>
                <a:latin typeface="Lato"/>
                <a:ea typeface="Lato"/>
                <a:cs typeface="Lato"/>
              </a:defRPr>
            </a:pPr>
            <a:r>
              <a:rPr sz="1875" b="1">
                <a:solidFill>
                  <a:srgbClr val="185C91"/>
                </a:solidFill>
                <a:latin typeface="Lato"/>
                <a:ea typeface="Lato"/>
                <a:cs typeface="Lato"/>
              </a:rPr>
              <a:t>This is a dual-meet table. A youth meet may not keep a team score.</a:t>
            </a:r>
          </a:p>
        </p:txBody>
      </p:sp>
    </p:spTree>
    <p:extLst>
      <p:ext uri="{BB962C8B-B14F-4D97-AF65-F5344CB8AC3E}">
        <p14:creationId xmlns:p14="http://schemas.microsoft.com/office/powerpoint/2010/main" val="199998886"/>
      </p:ext>
    </p:extLst>
  </p:cSld>
</p:sld>
</file>

<file path=ppt/slides/slide1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B82F487-AFA7-4241-9FC8-719B8EEBC46B}"/>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72B40"/>
                </a:solidFill>
                <a:latin typeface="Lato"/>
                <a:ea typeface="Lato"/>
                <a:cs typeface="Lato"/>
              </a:defRPr>
            </a:pPr>
            <a:r>
              <a:rPr sz="3600" b="1">
                <a:solidFill>
                  <a:srgbClr val="172B40"/>
                </a:solidFill>
                <a:latin typeface="Lato"/>
                <a:ea typeface="Lato"/>
                <a:cs typeface="Lato"/>
              </a:rPr>
              <a:t>USA Wrestling resources</a:t>
            </a:r>
          </a:p>
        </p:txBody>
      </p:sp>
      <p:sp>
        <p:nvSpPr>
          <p:cNvPr id="2" name="">
            <a:extLst xmlns:a="http://schemas.openxmlformats.org/drawingml/2006/main">
              <a:ext uri="{FF2B5EF4-FFF2-40B4-BE49-F238E27FC236}">
                <a16:creationId xmlns:a16="http://schemas.microsoft.com/office/drawing/2014/main" id="{F0B1BBE4-477F-42A2-95B3-6E1B46B4AAEC}"/>
              </a:ext>
            </a:extLst>
          </p:cNvPr>
          <p:cNvSpPr>
            <a:spLocks xmlns:a="http://schemas.openxmlformats.org/drawingml/2006/main" noGrp="1"/>
          </p:cNvSpPr>
          <p:nvPr/>
        </p:nvSpPr>
        <p:spPr>
          <a:xfrm xmlns:a="http://schemas.openxmlformats.org/drawingml/2006/main">
            <a:off x="11239500" y="6305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86177"/>
                </a:solidFill>
                <a:latin typeface="Lato"/>
                <a:ea typeface="Lato"/>
                <a:cs typeface="Lato"/>
              </a:defRPr>
            </a:pPr>
            <a:r>
              <a:rPr sz="1350" b="0">
                <a:solidFill>
                  <a:srgbClr val="486177"/>
                </a:solidFill>
                <a:latin typeface="Lato"/>
                <a:ea typeface="Lato"/>
                <a:cs typeface="Lato"/>
              </a:rPr>
              <a:t>14</a:t>
            </a:r>
          </a:p>
        </p:txBody>
      </p:sp>
      <p:sp>
        <p:nvSpPr>
          <p:cNvPr id="3" name="">
            <a:extLst xmlns:a="http://schemas.openxmlformats.org/drawingml/2006/main">
              <a:ext uri="{FF2B5EF4-FFF2-40B4-BE49-F238E27FC236}">
                <a16:creationId xmlns:a16="http://schemas.microsoft.com/office/drawing/2014/main" id="{2976C068-8651-4E8D-A871-6D984353E87F}"/>
              </a:ext>
            </a:extLst>
          </p:cNvPr>
          <p:cNvSpPr>
            <a:spLocks xmlns:a="http://schemas.openxmlformats.org/drawingml/2006/main" noGrp="1"/>
          </p:cNvSpPr>
          <p:nvPr/>
        </p:nvSpPr>
        <p:spPr>
          <a:xfrm xmlns:a="http://schemas.openxmlformats.org/drawingml/2006/main">
            <a:off x="685800" y="16859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85C91"/>
                </a:solidFill>
                <a:latin typeface="Lato"/>
                <a:ea typeface="Lato"/>
                <a:cs typeface="Lato"/>
              </a:defRPr>
            </a:pPr>
            <a:r>
              <a:rPr>
                <a:hlinkClick xmlns:r="http://schemas.openxmlformats.org/officeDocument/2006/relationships" r:id="R6b9e0b8def974b9b"/>
              </a:rPr>
              <a:t>USA Wrestling Rule Book, section 25: folkstyle</a:t>
            </a:r>
          </a:p>
        </p:txBody>
      </p:sp>
      <p:sp>
        <p:nvSpPr>
          <p:cNvPr id="4" name="">
            <a:extLst xmlns:a="http://schemas.openxmlformats.org/drawingml/2006/main">
              <a:ext uri="{FF2B5EF4-FFF2-40B4-BE49-F238E27FC236}">
                <a16:creationId xmlns:a16="http://schemas.microsoft.com/office/drawing/2014/main" id="{BB412E11-837A-4571-B020-07ECCB8D20ED}"/>
              </a:ext>
            </a:extLst>
          </p:cNvPr>
          <p:cNvSpPr>
            <a:spLocks xmlns:a="http://schemas.openxmlformats.org/drawingml/2006/main" noGrp="1"/>
          </p:cNvSpPr>
          <p:nvPr/>
        </p:nvSpPr>
        <p:spPr>
          <a:xfrm xmlns:a="http://schemas.openxmlformats.org/drawingml/2006/main">
            <a:off x="685800" y="20955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86177"/>
                </a:solidFill>
                <a:latin typeface="Lato"/>
                <a:ea typeface="Lato"/>
                <a:cs typeface="Lato"/>
              </a:defRPr>
            </a:pPr>
            <a:r>
              <a:rPr sz="1650" b="0">
                <a:solidFill>
                  <a:srgbClr val="486177"/>
                </a:solidFill>
                <a:latin typeface="Lato"/>
                <a:ea typeface="Lato"/>
                <a:cs typeface="Lato"/>
              </a:rPr>
              <a:t>NFHS rule foundation and USA Wrestling event modifications</a:t>
            </a:r>
          </a:p>
        </p:txBody>
      </p:sp>
      <p:sp>
        <p:nvSpPr>
          <p:cNvPr id="5" name="">
            <a:extLst xmlns:a="http://schemas.openxmlformats.org/drawingml/2006/main">
              <a:ext uri="{FF2B5EF4-FFF2-40B4-BE49-F238E27FC236}">
                <a16:creationId xmlns:a16="http://schemas.microsoft.com/office/drawing/2014/main" id="{1CCC950D-C59E-4835-8392-36C525F97C84}"/>
              </a:ext>
            </a:extLst>
          </p:cNvPr>
          <p:cNvSpPr>
            <a:spLocks xmlns:a="http://schemas.openxmlformats.org/drawingml/2006/main" noGrp="1"/>
          </p:cNvSpPr>
          <p:nvPr/>
        </p:nvSpPr>
        <p:spPr>
          <a:xfrm xmlns:a="http://schemas.openxmlformats.org/drawingml/2006/main">
            <a:off x="685800" y="26574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85C91"/>
                </a:solidFill>
                <a:latin typeface="Lato"/>
                <a:ea typeface="Lato"/>
                <a:cs typeface="Lato"/>
              </a:defRPr>
            </a:pPr>
            <a:r>
              <a:rPr>
                <a:hlinkClick xmlns:r="http://schemas.openxmlformats.org/officeDocument/2006/relationships" r:id="Rfd76373078aa4c20"/>
              </a:rPr>
              <a:t>USA Wrestling Core Curriculum, Folkstyle Level 1</a:t>
            </a:r>
          </a:p>
        </p:txBody>
      </p:sp>
      <p:sp>
        <p:nvSpPr>
          <p:cNvPr id="6" name="">
            <a:extLst xmlns:a="http://schemas.openxmlformats.org/drawingml/2006/main">
              <a:ext uri="{FF2B5EF4-FFF2-40B4-BE49-F238E27FC236}">
                <a16:creationId xmlns:a16="http://schemas.microsoft.com/office/drawing/2014/main" id="{E70695E1-AB1C-40EA-A509-78E40424C6B1}"/>
              </a:ext>
            </a:extLst>
          </p:cNvPr>
          <p:cNvSpPr>
            <a:spLocks xmlns:a="http://schemas.openxmlformats.org/drawingml/2006/main" noGrp="1"/>
          </p:cNvSpPr>
          <p:nvPr/>
        </p:nvSpPr>
        <p:spPr>
          <a:xfrm xmlns:a="http://schemas.openxmlformats.org/drawingml/2006/main">
            <a:off x="685800" y="30670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86177"/>
                </a:solidFill>
                <a:latin typeface="Lato"/>
                <a:ea typeface="Lato"/>
                <a:cs typeface="Lato"/>
              </a:defRPr>
            </a:pPr>
            <a:r>
              <a:rPr sz="1650" b="0">
                <a:solidFill>
                  <a:srgbClr val="486177"/>
                </a:solidFill>
                <a:latin typeface="Lato"/>
                <a:ea typeface="Lato"/>
                <a:cs typeface="Lato"/>
              </a:rPr>
              <a:t>Neutral, referee's position and top position; optional position references</a:t>
            </a:r>
          </a:p>
        </p:txBody>
      </p:sp>
      <p:sp>
        <p:nvSpPr>
          <p:cNvPr id="7" name="">
            <a:extLst xmlns:a="http://schemas.openxmlformats.org/drawingml/2006/main">
              <a:ext uri="{FF2B5EF4-FFF2-40B4-BE49-F238E27FC236}">
                <a16:creationId xmlns:a16="http://schemas.microsoft.com/office/drawing/2014/main" id="{B2B9BF8F-E47C-46F0-A9F4-278C64431162}"/>
              </a:ext>
            </a:extLst>
          </p:cNvPr>
          <p:cNvSpPr>
            <a:spLocks xmlns:a="http://schemas.openxmlformats.org/drawingml/2006/main" noGrp="1"/>
          </p:cNvSpPr>
          <p:nvPr/>
        </p:nvSpPr>
        <p:spPr>
          <a:xfrm xmlns:a="http://schemas.openxmlformats.org/drawingml/2006/main">
            <a:off x="685800" y="36290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85C91"/>
                </a:solidFill>
                <a:latin typeface="Lato"/>
                <a:ea typeface="Lato"/>
                <a:cs typeface="Lato"/>
              </a:defRPr>
            </a:pPr>
            <a:r>
              <a:rPr>
                <a:hlinkClick xmlns:r="http://schemas.openxmlformats.org/officeDocument/2006/relationships" r:id="Ra3b770f0c5de4f0f"/>
              </a:rPr>
              <a:t>USA Wrestling, 5 Ways to be a Better Wrestling Parent</a:t>
            </a:r>
          </a:p>
        </p:txBody>
      </p:sp>
      <p:sp>
        <p:nvSpPr>
          <p:cNvPr id="8" name="">
            <a:extLst xmlns:a="http://schemas.openxmlformats.org/drawingml/2006/main">
              <a:ext uri="{FF2B5EF4-FFF2-40B4-BE49-F238E27FC236}">
                <a16:creationId xmlns:a16="http://schemas.microsoft.com/office/drawing/2014/main" id="{CAC1F75D-DED7-4BBC-90EC-C7392812E11D}"/>
              </a:ext>
            </a:extLst>
          </p:cNvPr>
          <p:cNvSpPr>
            <a:spLocks xmlns:a="http://schemas.openxmlformats.org/drawingml/2006/main" noGrp="1"/>
          </p:cNvSpPr>
          <p:nvPr/>
        </p:nvSpPr>
        <p:spPr>
          <a:xfrm xmlns:a="http://schemas.openxmlformats.org/drawingml/2006/main">
            <a:off x="685800" y="40386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86177"/>
                </a:solidFill>
                <a:latin typeface="Lato"/>
                <a:ea typeface="Lato"/>
                <a:cs typeface="Lato"/>
              </a:defRPr>
            </a:pPr>
            <a:r>
              <a:rPr sz="1650" b="0">
                <a:solidFill>
                  <a:srgbClr val="486177"/>
                </a:solidFill>
                <a:latin typeface="Lato"/>
                <a:ea typeface="Lato"/>
                <a:cs typeface="Lato"/>
              </a:rPr>
              <a:t>Parent support and long-term development</a:t>
            </a:r>
          </a:p>
        </p:txBody>
      </p:sp>
      <p:sp>
        <p:nvSpPr>
          <p:cNvPr id="9" name="">
            <a:extLst xmlns:a="http://schemas.openxmlformats.org/drawingml/2006/main">
              <a:ext uri="{FF2B5EF4-FFF2-40B4-BE49-F238E27FC236}">
                <a16:creationId xmlns:a16="http://schemas.microsoft.com/office/drawing/2014/main" id="{6A403926-DDD4-4F8A-BE93-B645CE3A0C8F}"/>
              </a:ext>
            </a:extLst>
          </p:cNvPr>
          <p:cNvSpPr>
            <a:spLocks xmlns:a="http://schemas.openxmlformats.org/drawingml/2006/main" noGrp="1"/>
          </p:cNvSpPr>
          <p:nvPr/>
        </p:nvSpPr>
        <p:spPr>
          <a:xfrm xmlns:a="http://schemas.openxmlformats.org/drawingml/2006/main">
            <a:off x="685800" y="46005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85C91"/>
                </a:solidFill>
                <a:latin typeface="Lato"/>
                <a:ea typeface="Lato"/>
                <a:cs typeface="Lato"/>
              </a:defRPr>
            </a:pPr>
            <a:r>
              <a:rPr>
                <a:hlinkClick xmlns:r="http://schemas.openxmlformats.org/officeDocument/2006/relationships" r:id="Rcf8b6a013cef4365"/>
              </a:rPr>
              <a:t>USA Wrestling, 10 Factors for Athlete Development</a:t>
            </a:r>
          </a:p>
        </p:txBody>
      </p:sp>
      <p:sp>
        <p:nvSpPr>
          <p:cNvPr id="10" name="">
            <a:extLst xmlns:a="http://schemas.openxmlformats.org/drawingml/2006/main">
              <a:ext uri="{FF2B5EF4-FFF2-40B4-BE49-F238E27FC236}">
                <a16:creationId xmlns:a16="http://schemas.microsoft.com/office/drawing/2014/main" id="{8EB0AD06-1972-4632-A970-91B2A4A27423}"/>
              </a:ext>
            </a:extLst>
          </p:cNvPr>
          <p:cNvSpPr>
            <a:spLocks xmlns:a="http://schemas.openxmlformats.org/drawingml/2006/main" noGrp="1"/>
          </p:cNvSpPr>
          <p:nvPr/>
        </p:nvSpPr>
        <p:spPr>
          <a:xfrm xmlns:a="http://schemas.openxmlformats.org/drawingml/2006/main">
            <a:off x="685800" y="5010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86177"/>
                </a:solidFill>
                <a:latin typeface="Lato"/>
                <a:ea typeface="Lato"/>
                <a:cs typeface="Lato"/>
              </a:defRPr>
            </a:pPr>
            <a:r>
              <a:rPr sz="1650" b="0">
                <a:solidFill>
                  <a:srgbClr val="486177"/>
                </a:solidFill>
                <a:latin typeface="Lato"/>
                <a:ea typeface="Lato"/>
                <a:cs typeface="Lato"/>
              </a:rPr>
              <a:t>Learning and development over early results</a:t>
            </a:r>
          </a:p>
        </p:txBody>
      </p:sp>
      <p:sp>
        <p:nvSpPr>
          <p:cNvPr id="11" name="">
            <a:extLst xmlns:a="http://schemas.openxmlformats.org/drawingml/2006/main">
              <a:ext uri="{FF2B5EF4-FFF2-40B4-BE49-F238E27FC236}">
                <a16:creationId xmlns:a16="http://schemas.microsoft.com/office/drawing/2014/main" id="{48E94C54-3654-496E-AD51-DD0CDAD74DA7}"/>
              </a:ext>
            </a:extLst>
          </p:cNvPr>
          <p:cNvSpPr>
            <a:spLocks xmlns:a="http://schemas.openxmlformats.org/drawingml/2006/main" noGrp="1"/>
          </p:cNvSpPr>
          <p:nvPr/>
        </p:nvSpPr>
        <p:spPr>
          <a:xfrm xmlns:a="http://schemas.openxmlformats.org/drawingml/2006/main">
            <a:off x="685800" y="601980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rgbClr val="486177"/>
                </a:solidFill>
                <a:latin typeface="Lato"/>
                <a:ea typeface="Lato"/>
                <a:cs typeface="Lato"/>
              </a:defRPr>
            </a:pPr>
            <a:r>
              <a:rPr sz="1575" b="0">
                <a:solidFill>
                  <a:srgbClr val="486177"/>
                </a:solidFill>
                <a:latin typeface="Lato"/>
                <a:ea typeface="Lato"/>
                <a:cs typeface="Lato"/>
              </a:rPr>
              <a:t>Full source links also appear in the speaker notes.</a:t>
            </a:r>
          </a:p>
        </p:txBody>
      </p:sp>
    </p:spTree>
    <p:extLst>
      <p:ext uri="{BB962C8B-B14F-4D97-AF65-F5344CB8AC3E}">
        <p14:creationId xmlns:p14="http://schemas.microsoft.com/office/powerpoint/2010/main" val="1344056530"/>
      </p:ext>
    </p:extLst>
  </p:cSld>
</p:sld>
</file>

<file path=ppt/slides/slide1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A341F82-BB71-4DD5-BC9F-BE56780A49B3}"/>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72B40"/>
                </a:solidFill>
                <a:latin typeface="Lato"/>
                <a:ea typeface="Lato"/>
                <a:cs typeface="Lato"/>
              </a:defRPr>
            </a:pPr>
            <a:r>
              <a:rPr sz="3600" b="1">
                <a:solidFill>
                  <a:srgbClr val="172B40"/>
                </a:solidFill>
                <a:latin typeface="Lato"/>
                <a:ea typeface="Lato"/>
                <a:cs typeface="Lato"/>
              </a:rPr>
              <a:t>Local rules and family resources</a:t>
            </a:r>
          </a:p>
        </p:txBody>
      </p:sp>
      <p:sp>
        <p:nvSpPr>
          <p:cNvPr id="2" name="">
            <a:extLst xmlns:a="http://schemas.openxmlformats.org/drawingml/2006/main">
              <a:ext uri="{FF2B5EF4-FFF2-40B4-BE49-F238E27FC236}">
                <a16:creationId xmlns:a16="http://schemas.microsoft.com/office/drawing/2014/main" id="{7716254E-F9E8-4266-9764-B393E5F9DC43}"/>
              </a:ext>
            </a:extLst>
          </p:cNvPr>
          <p:cNvSpPr>
            <a:spLocks xmlns:a="http://schemas.openxmlformats.org/drawingml/2006/main" noGrp="1"/>
          </p:cNvSpPr>
          <p:nvPr/>
        </p:nvSpPr>
        <p:spPr>
          <a:xfrm xmlns:a="http://schemas.openxmlformats.org/drawingml/2006/main">
            <a:off x="11239500" y="6305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86177"/>
                </a:solidFill>
                <a:latin typeface="Lato"/>
                <a:ea typeface="Lato"/>
                <a:cs typeface="Lato"/>
              </a:defRPr>
            </a:pPr>
            <a:r>
              <a:rPr sz="1350" b="0">
                <a:solidFill>
                  <a:srgbClr val="486177"/>
                </a:solidFill>
                <a:latin typeface="Lato"/>
                <a:ea typeface="Lato"/>
                <a:cs typeface="Lato"/>
              </a:rPr>
              <a:t>15</a:t>
            </a:r>
          </a:p>
        </p:txBody>
      </p:sp>
      <p:sp>
        <p:nvSpPr>
          <p:cNvPr id="3" name="">
            <a:extLst xmlns:a="http://schemas.openxmlformats.org/drawingml/2006/main">
              <a:ext uri="{FF2B5EF4-FFF2-40B4-BE49-F238E27FC236}">
                <a16:creationId xmlns:a16="http://schemas.microsoft.com/office/drawing/2014/main" id="{3C4ED519-13A2-4540-811B-A6EC723DFF88}"/>
              </a:ext>
            </a:extLst>
          </p:cNvPr>
          <p:cNvSpPr>
            <a:spLocks xmlns:a="http://schemas.openxmlformats.org/drawingml/2006/main" noGrp="1"/>
          </p:cNvSpPr>
          <p:nvPr/>
        </p:nvSpPr>
        <p:spPr>
          <a:xfrm xmlns:a="http://schemas.openxmlformats.org/drawingml/2006/main">
            <a:off x="685800" y="16192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85C91"/>
                </a:solidFill>
                <a:latin typeface="Lato"/>
                <a:ea typeface="Lato"/>
                <a:cs typeface="Lato"/>
              </a:defRPr>
            </a:pPr>
            <a:r>
              <a:rPr>
                <a:hlinkClick xmlns:r="http://schemas.openxmlformats.org/officeDocument/2006/relationships" r:id="R86d4e73051e24328"/>
              </a:rPr>
              <a:t>Grindstone Mat Rats program</a:t>
            </a:r>
          </a:p>
        </p:txBody>
      </p:sp>
      <p:sp>
        <p:nvSpPr>
          <p:cNvPr id="4" name="">
            <a:extLst xmlns:a="http://schemas.openxmlformats.org/drawingml/2006/main">
              <a:ext uri="{FF2B5EF4-FFF2-40B4-BE49-F238E27FC236}">
                <a16:creationId xmlns:a16="http://schemas.microsoft.com/office/drawing/2014/main" id="{5FBFFFBA-6C73-48C0-9104-E105A81C880A}"/>
              </a:ext>
            </a:extLst>
          </p:cNvPr>
          <p:cNvSpPr>
            <a:spLocks xmlns:a="http://schemas.openxmlformats.org/drawingml/2006/main" noGrp="1"/>
          </p:cNvSpPr>
          <p:nvPr/>
        </p:nvSpPr>
        <p:spPr>
          <a:xfrm xmlns:a="http://schemas.openxmlformats.org/drawingml/2006/main">
            <a:off x="685800" y="22860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85C91"/>
                </a:solidFill>
                <a:latin typeface="Lato"/>
                <a:ea typeface="Lato"/>
                <a:cs typeface="Lato"/>
              </a:defRPr>
            </a:pPr>
            <a:r>
              <a:rPr>
                <a:hlinkClick xmlns:r="http://schemas.openxmlformats.org/officeDocument/2006/relationships" r:id="Ra7b10403cbf84c45"/>
              </a:rPr>
              <a:t>Grindstone Valkyries program</a:t>
            </a:r>
          </a:p>
        </p:txBody>
      </p:sp>
      <p:sp>
        <p:nvSpPr>
          <p:cNvPr id="5" name="">
            <a:extLst xmlns:a="http://schemas.openxmlformats.org/drawingml/2006/main">
              <a:ext uri="{FF2B5EF4-FFF2-40B4-BE49-F238E27FC236}">
                <a16:creationId xmlns:a16="http://schemas.microsoft.com/office/drawing/2014/main" id="{2ECCDB43-7AC1-4050-A8F1-E333AB7A7386}"/>
              </a:ext>
            </a:extLst>
          </p:cNvPr>
          <p:cNvSpPr>
            <a:spLocks xmlns:a="http://schemas.openxmlformats.org/drawingml/2006/main" noGrp="1"/>
          </p:cNvSpPr>
          <p:nvPr/>
        </p:nvSpPr>
        <p:spPr>
          <a:xfrm xmlns:a="http://schemas.openxmlformats.org/drawingml/2006/main">
            <a:off x="685800" y="29527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85C91"/>
                </a:solidFill>
                <a:latin typeface="Lato"/>
                <a:ea typeface="Lato"/>
                <a:cs typeface="Lato"/>
              </a:defRPr>
            </a:pPr>
            <a:r>
              <a:rPr>
                <a:hlinkClick xmlns:r="http://schemas.openxmlformats.org/officeDocument/2006/relationships" r:id="Rea92a085db73424e"/>
              </a:rPr>
              <a:t>MMWL overview by member club Predators Wrestling</a:t>
            </a:r>
          </a:p>
        </p:txBody>
      </p:sp>
      <p:sp>
        <p:nvSpPr>
          <p:cNvPr id="6" name="">
            <a:extLst xmlns:a="http://schemas.openxmlformats.org/drawingml/2006/main">
              <a:ext uri="{FF2B5EF4-FFF2-40B4-BE49-F238E27FC236}">
                <a16:creationId xmlns:a16="http://schemas.microsoft.com/office/drawing/2014/main" id="{B6AC6B41-1661-4425-A72C-7B80088CD1ED}"/>
              </a:ext>
            </a:extLst>
          </p:cNvPr>
          <p:cNvSpPr>
            <a:spLocks xmlns:a="http://schemas.openxmlformats.org/drawingml/2006/main" noGrp="1"/>
          </p:cNvSpPr>
          <p:nvPr/>
        </p:nvSpPr>
        <p:spPr>
          <a:xfrm xmlns:a="http://schemas.openxmlformats.org/drawingml/2006/main">
            <a:off x="685800" y="36195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85C91"/>
                </a:solidFill>
                <a:latin typeface="Lato"/>
                <a:ea typeface="Lato"/>
                <a:cs typeface="Lato"/>
              </a:defRPr>
            </a:pPr>
            <a:r>
              <a:rPr>
                <a:hlinkClick xmlns:r="http://schemas.openxmlformats.org/officeDocument/2006/relationships" r:id="R5d547aba18174201"/>
              </a:rPr>
              <a:t>NFHS Wrestling Rules Changes 2026–27</a:t>
            </a:r>
          </a:p>
        </p:txBody>
      </p:sp>
      <p:sp>
        <p:nvSpPr>
          <p:cNvPr id="7" name="">
            <a:extLst xmlns:a="http://schemas.openxmlformats.org/drawingml/2006/main">
              <a:ext uri="{FF2B5EF4-FFF2-40B4-BE49-F238E27FC236}">
                <a16:creationId xmlns:a16="http://schemas.microsoft.com/office/drawing/2014/main" id="{F7EAE68C-F699-4EB4-B3EF-6DB4DEA36E94}"/>
              </a:ext>
            </a:extLst>
          </p:cNvPr>
          <p:cNvSpPr>
            <a:spLocks xmlns:a="http://schemas.openxmlformats.org/drawingml/2006/main" noGrp="1"/>
          </p:cNvSpPr>
          <p:nvPr/>
        </p:nvSpPr>
        <p:spPr>
          <a:xfrm xmlns:a="http://schemas.openxmlformats.org/drawingml/2006/main">
            <a:off x="685800" y="42862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85C91"/>
                </a:solidFill>
                <a:latin typeface="Lato"/>
                <a:ea typeface="Lato"/>
                <a:cs typeface="Lato"/>
              </a:defRPr>
            </a:pPr>
            <a:r>
              <a:rPr>
                <a:hlinkClick xmlns:r="http://schemas.openxmlformats.org/officeDocument/2006/relationships" r:id="R79ec0d9510fc4a4e"/>
              </a:rPr>
              <a:t>CDC, Athletes: MRSA Prevention and Control</a:t>
            </a:r>
          </a:p>
        </p:txBody>
      </p:sp>
      <p:sp>
        <p:nvSpPr>
          <p:cNvPr id="8" name="">
            <a:extLst xmlns:a="http://schemas.openxmlformats.org/drawingml/2006/main">
              <a:ext uri="{FF2B5EF4-FFF2-40B4-BE49-F238E27FC236}">
                <a16:creationId xmlns:a16="http://schemas.microsoft.com/office/drawing/2014/main" id="{9E26C91F-7502-4FE5-95EB-DA38AC41A502}"/>
              </a:ext>
            </a:extLst>
          </p:cNvPr>
          <p:cNvSpPr>
            <a:spLocks xmlns:a="http://schemas.openxmlformats.org/drawingml/2006/main" noGrp="1"/>
          </p:cNvSpPr>
          <p:nvPr/>
        </p:nvSpPr>
        <p:spPr>
          <a:xfrm xmlns:a="http://schemas.openxmlformats.org/drawingml/2006/main">
            <a:off x="685800" y="49530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85C91"/>
                </a:solidFill>
                <a:latin typeface="Lato"/>
                <a:ea typeface="Lato"/>
                <a:cs typeface="Lato"/>
              </a:defRPr>
            </a:pPr>
            <a:r>
              <a:rPr>
                <a:hlinkClick xmlns:r="http://schemas.openxmlformats.org/officeDocument/2006/relationships" r:id="R668abb13d6894d7f"/>
              </a:rPr>
              <a:t>CDC HEADS UP, Responding to a Sports-related Concussion</a:t>
            </a:r>
          </a:p>
        </p:txBody>
      </p:sp>
      <p:sp>
        <p:nvSpPr>
          <p:cNvPr id="9" name="">
            <a:extLst xmlns:a="http://schemas.openxmlformats.org/drawingml/2006/main">
              <a:ext uri="{FF2B5EF4-FFF2-40B4-BE49-F238E27FC236}">
                <a16:creationId xmlns:a16="http://schemas.microsoft.com/office/drawing/2014/main" id="{3DB3FA4A-CEA5-43B1-8638-325E859BD119}"/>
              </a:ext>
            </a:extLst>
          </p:cNvPr>
          <p:cNvSpPr>
            <a:spLocks xmlns:a="http://schemas.openxmlformats.org/drawingml/2006/main" noGrp="1"/>
          </p:cNvSpPr>
          <p:nvPr/>
        </p:nvSpPr>
        <p:spPr>
          <a:xfrm xmlns:a="http://schemas.openxmlformats.org/drawingml/2006/main">
            <a:off x="685800" y="60198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rgbClr val="486177"/>
                </a:solidFill>
                <a:latin typeface="Lato"/>
                <a:ea typeface="Lato"/>
                <a:cs typeface="Lato"/>
              </a:defRPr>
            </a:pPr>
            <a:r>
              <a:rPr sz="1575" b="0">
                <a:solidFill>
                  <a:srgbClr val="486177"/>
                </a:solidFill>
                <a:latin typeface="Lato"/>
                <a:ea typeface="Lato"/>
                <a:cs typeface="Lato"/>
              </a:rPr>
              <a:t>Rules checked September 25, 2026. Follow the current event instructions.</a:t>
            </a:r>
          </a:p>
        </p:txBody>
      </p:sp>
    </p:spTree>
    <p:extLst>
      <p:ext uri="{BB962C8B-B14F-4D97-AF65-F5344CB8AC3E}">
        <p14:creationId xmlns:p14="http://schemas.microsoft.com/office/powerpoint/2010/main" val="1034322124"/>
      </p:ext>
    </p:extLst>
  </p:cSld>
</p:sld>
</file>

<file path=ppt/slides/slide1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617D0B5-DBEF-459C-948E-E3171D8AEE33}"/>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72B40"/>
                </a:solidFill>
                <a:latin typeface="Lato"/>
                <a:ea typeface="Lato"/>
                <a:cs typeface="Lato"/>
              </a:defRPr>
            </a:pPr>
            <a:r>
              <a:rPr sz="3600" b="1">
                <a:solidFill>
                  <a:srgbClr val="172B40"/>
                </a:solidFill>
                <a:latin typeface="Lato"/>
                <a:ea typeface="Lato"/>
                <a:cs typeface="Lato"/>
              </a:rPr>
              <a:t>Common penalties</a:t>
            </a:r>
          </a:p>
        </p:txBody>
      </p:sp>
      <p:sp>
        <p:nvSpPr>
          <p:cNvPr id="2" name="">
            <a:extLst xmlns:a="http://schemas.openxmlformats.org/drawingml/2006/main">
              <a:ext uri="{FF2B5EF4-FFF2-40B4-BE49-F238E27FC236}">
                <a16:creationId xmlns:a16="http://schemas.microsoft.com/office/drawing/2014/main" id="{16DAB686-A5F0-43A9-AF85-16D362311DCC}"/>
              </a:ext>
            </a:extLst>
          </p:cNvPr>
          <p:cNvSpPr>
            <a:spLocks xmlns:a="http://schemas.openxmlformats.org/drawingml/2006/main" noGrp="1"/>
          </p:cNvSpPr>
          <p:nvPr/>
        </p:nvSpPr>
        <p:spPr>
          <a:xfrm xmlns:a="http://schemas.openxmlformats.org/drawingml/2006/main">
            <a:off x="685800" y="130492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486177"/>
                </a:solidFill>
                <a:latin typeface="Lato"/>
                <a:ea typeface="Lato"/>
                <a:cs typeface="Lato"/>
              </a:defRPr>
            </a:pPr>
            <a:r>
              <a:rPr sz="1725" b="0">
                <a:solidFill>
                  <a:srgbClr val="486177"/>
                </a:solidFill>
                <a:latin typeface="Lato"/>
                <a:ea typeface="Lato"/>
                <a:cs typeface="Lato"/>
              </a:rPr>
              <a:t>Optional reference. The penalties page explains the counts and exceptions.</a:t>
            </a:r>
          </a:p>
        </p:txBody>
      </p:sp>
      <p:sp>
        <p:nvSpPr>
          <p:cNvPr id="3" name="">
            <a:extLst xmlns:a="http://schemas.openxmlformats.org/drawingml/2006/main">
              <a:ext uri="{FF2B5EF4-FFF2-40B4-BE49-F238E27FC236}">
                <a16:creationId xmlns:a16="http://schemas.microsoft.com/office/drawing/2014/main" id="{FC49B95A-68D2-47DD-8284-1BEF5BE8B7BD}"/>
              </a:ext>
            </a:extLst>
          </p:cNvPr>
          <p:cNvSpPr>
            <a:spLocks xmlns:a="http://schemas.openxmlformats.org/drawingml/2006/main" noGrp="1"/>
          </p:cNvSpPr>
          <p:nvPr/>
        </p:nvSpPr>
        <p:spPr>
          <a:xfrm xmlns:a="http://schemas.openxmlformats.org/drawingml/2006/main">
            <a:off x="685800" y="1838325"/>
            <a:ext cx="4143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5C91"/>
                </a:solidFill>
                <a:latin typeface="Lato"/>
                <a:ea typeface="Lato"/>
                <a:cs typeface="Lato"/>
              </a:defRPr>
            </a:pPr>
            <a:r>
              <a:rPr sz="2025" b="1">
                <a:solidFill>
                  <a:srgbClr val="185C91"/>
                </a:solidFill>
                <a:latin typeface="Lato"/>
                <a:ea typeface="Lato"/>
                <a:cs typeface="Lato"/>
              </a:rPr>
              <a:t>FALSE START OR SETUP</a:t>
            </a:r>
          </a:p>
        </p:txBody>
      </p:sp>
      <p:sp>
        <p:nvSpPr>
          <p:cNvPr id="4" name="">
            <a:extLst xmlns:a="http://schemas.openxmlformats.org/drawingml/2006/main">
              <a:ext uri="{FF2B5EF4-FFF2-40B4-BE49-F238E27FC236}">
                <a16:creationId xmlns:a16="http://schemas.microsoft.com/office/drawing/2014/main" id="{79BD5106-93A4-4418-A9BC-4C258A63CBBC}"/>
              </a:ext>
            </a:extLst>
          </p:cNvPr>
          <p:cNvSpPr>
            <a:spLocks xmlns:a="http://schemas.openxmlformats.org/drawingml/2006/main" noGrp="1"/>
          </p:cNvSpPr>
          <p:nvPr/>
        </p:nvSpPr>
        <p:spPr>
          <a:xfrm xmlns:a="http://schemas.openxmlformats.org/drawingml/2006/main">
            <a:off x="4953000" y="1828800"/>
            <a:ext cx="6553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72B40"/>
                </a:solidFill>
                <a:latin typeface="Lato"/>
                <a:ea typeface="Lato"/>
                <a:cs typeface="Lato"/>
              </a:defRPr>
            </a:pPr>
            <a:r>
              <a:rPr sz="2175" b="0">
                <a:solidFill>
                  <a:srgbClr val="172B40"/>
                </a:solidFill>
                <a:latin typeface="Lato"/>
                <a:ea typeface="Lato"/>
                <a:cs typeface="Lato"/>
              </a:rPr>
              <a:t>Two cautions, then 1 point each time</a:t>
            </a:r>
          </a:p>
        </p:txBody>
      </p:sp>
      <p:sp>
        <p:nvSpPr>
          <p:cNvPr id="5" name="">
            <a:extLst xmlns:a="http://schemas.openxmlformats.org/drawingml/2006/main">
              <a:ext uri="{FF2B5EF4-FFF2-40B4-BE49-F238E27FC236}">
                <a16:creationId xmlns:a16="http://schemas.microsoft.com/office/drawing/2014/main" id="{74560457-805E-4D7A-A8E5-EEC7F1C1BFE1}"/>
              </a:ext>
            </a:extLst>
          </p:cNvPr>
          <p:cNvSpPr>
            <a:spLocks xmlns:a="http://schemas.openxmlformats.org/drawingml/2006/main" noGrp="1"/>
          </p:cNvSpPr>
          <p:nvPr/>
        </p:nvSpPr>
        <p:spPr>
          <a:xfrm xmlns:a="http://schemas.openxmlformats.org/drawingml/2006/main">
            <a:off x="685800" y="2466975"/>
            <a:ext cx="4143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5C91"/>
                </a:solidFill>
                <a:latin typeface="Lato"/>
                <a:ea typeface="Lato"/>
                <a:cs typeface="Lato"/>
              </a:defRPr>
            </a:pPr>
            <a:r>
              <a:rPr sz="2025" b="1">
                <a:solidFill>
                  <a:srgbClr val="185C91"/>
                </a:solidFill>
                <a:latin typeface="Lato"/>
                <a:ea typeface="Lato"/>
                <a:cs typeface="Lato"/>
              </a:rPr>
              <a:t>STALLING</a:t>
            </a:r>
          </a:p>
        </p:txBody>
      </p:sp>
      <p:sp>
        <p:nvSpPr>
          <p:cNvPr id="6" name="">
            <a:extLst xmlns:a="http://schemas.openxmlformats.org/drawingml/2006/main">
              <a:ext uri="{FF2B5EF4-FFF2-40B4-BE49-F238E27FC236}">
                <a16:creationId xmlns:a16="http://schemas.microsoft.com/office/drawing/2014/main" id="{92D77CAF-D3EE-4B8F-ADD1-C0CBB4B292FC}"/>
              </a:ext>
            </a:extLst>
          </p:cNvPr>
          <p:cNvSpPr>
            <a:spLocks xmlns:a="http://schemas.openxmlformats.org/drawingml/2006/main" noGrp="1"/>
          </p:cNvSpPr>
          <p:nvPr/>
        </p:nvSpPr>
        <p:spPr>
          <a:xfrm xmlns:a="http://schemas.openxmlformats.org/drawingml/2006/main">
            <a:off x="4953000" y="2457450"/>
            <a:ext cx="6553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72B40"/>
                </a:solidFill>
                <a:latin typeface="Lato"/>
                <a:ea typeface="Lato"/>
                <a:cs typeface="Lato"/>
              </a:defRPr>
            </a:pPr>
            <a:r>
              <a:rPr sz="2175" b="0">
                <a:solidFill>
                  <a:srgbClr val="172B40"/>
                </a:solidFill>
                <a:latin typeface="Lato"/>
                <a:ea typeface="Lato"/>
                <a:cs typeface="Lato"/>
              </a:rPr>
              <a:t>Warning, then points for repeat calls</a:t>
            </a:r>
          </a:p>
        </p:txBody>
      </p:sp>
      <p:sp>
        <p:nvSpPr>
          <p:cNvPr id="7" name="">
            <a:extLst xmlns:a="http://schemas.openxmlformats.org/drawingml/2006/main">
              <a:ext uri="{FF2B5EF4-FFF2-40B4-BE49-F238E27FC236}">
                <a16:creationId xmlns:a16="http://schemas.microsoft.com/office/drawing/2014/main" id="{0FBC4AFF-29E2-4324-A7D1-CAFB1C8DA4C8}"/>
              </a:ext>
            </a:extLst>
          </p:cNvPr>
          <p:cNvSpPr>
            <a:spLocks xmlns:a="http://schemas.openxmlformats.org/drawingml/2006/main" noGrp="1"/>
          </p:cNvSpPr>
          <p:nvPr/>
        </p:nvSpPr>
        <p:spPr>
          <a:xfrm xmlns:a="http://schemas.openxmlformats.org/drawingml/2006/main">
            <a:off x="685800" y="3095625"/>
            <a:ext cx="4143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5C91"/>
                </a:solidFill>
                <a:latin typeface="Lato"/>
                <a:ea typeface="Lato"/>
                <a:cs typeface="Lato"/>
              </a:defRPr>
            </a:pPr>
            <a:r>
              <a:rPr sz="2025" b="1">
                <a:solidFill>
                  <a:srgbClr val="185C91"/>
                </a:solidFill>
                <a:latin typeface="Lato"/>
                <a:ea typeface="Lato"/>
                <a:cs typeface="Lato"/>
              </a:rPr>
              <a:t>LOCKED HANDS</a:t>
            </a:r>
          </a:p>
        </p:txBody>
      </p:sp>
      <p:sp>
        <p:nvSpPr>
          <p:cNvPr id="8" name="">
            <a:extLst xmlns:a="http://schemas.openxmlformats.org/drawingml/2006/main">
              <a:ext uri="{FF2B5EF4-FFF2-40B4-BE49-F238E27FC236}">
                <a16:creationId xmlns:a16="http://schemas.microsoft.com/office/drawing/2014/main" id="{583F0EDB-BD96-4D86-A2A9-9EFE4C6CA996}"/>
              </a:ext>
            </a:extLst>
          </p:cNvPr>
          <p:cNvSpPr>
            <a:spLocks xmlns:a="http://schemas.openxmlformats.org/drawingml/2006/main" noGrp="1"/>
          </p:cNvSpPr>
          <p:nvPr/>
        </p:nvSpPr>
        <p:spPr>
          <a:xfrm xmlns:a="http://schemas.openxmlformats.org/drawingml/2006/main">
            <a:off x="4953000" y="3086100"/>
            <a:ext cx="6553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72B40"/>
                </a:solidFill>
                <a:latin typeface="Lato"/>
                <a:ea typeface="Lato"/>
                <a:cs typeface="Lato"/>
              </a:defRPr>
            </a:pPr>
            <a:r>
              <a:rPr sz="2175" b="0">
                <a:solidFill>
                  <a:srgbClr val="172B40"/>
                </a:solidFill>
                <a:latin typeface="Lato"/>
                <a:ea typeface="Lato"/>
                <a:cs typeface="Lato"/>
              </a:rPr>
              <a:t>Illegal clasp from top; exceptions apply</a:t>
            </a:r>
          </a:p>
        </p:txBody>
      </p:sp>
      <p:sp>
        <p:nvSpPr>
          <p:cNvPr id="9" name="">
            <a:extLst xmlns:a="http://schemas.openxmlformats.org/drawingml/2006/main">
              <a:ext uri="{FF2B5EF4-FFF2-40B4-BE49-F238E27FC236}">
                <a16:creationId xmlns:a16="http://schemas.microsoft.com/office/drawing/2014/main" id="{77ADDD86-E7E3-4E01-9718-D4D0020F6199}"/>
              </a:ext>
            </a:extLst>
          </p:cNvPr>
          <p:cNvSpPr>
            <a:spLocks xmlns:a="http://schemas.openxmlformats.org/drawingml/2006/main" noGrp="1"/>
          </p:cNvSpPr>
          <p:nvPr/>
        </p:nvSpPr>
        <p:spPr>
          <a:xfrm xmlns:a="http://schemas.openxmlformats.org/drawingml/2006/main">
            <a:off x="685800" y="3724275"/>
            <a:ext cx="4143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5C91"/>
                </a:solidFill>
                <a:latin typeface="Lato"/>
                <a:ea typeface="Lato"/>
                <a:cs typeface="Lato"/>
              </a:defRPr>
            </a:pPr>
            <a:r>
              <a:rPr sz="2025" b="1">
                <a:solidFill>
                  <a:srgbClr val="185C91"/>
                </a:solidFill>
                <a:latin typeface="Lato"/>
                <a:ea typeface="Lato"/>
                <a:cs typeface="Lato"/>
              </a:rPr>
              <a:t>GRABBING GEAR</a:t>
            </a:r>
          </a:p>
        </p:txBody>
      </p:sp>
      <p:sp>
        <p:nvSpPr>
          <p:cNvPr id="10" name="">
            <a:extLst xmlns:a="http://schemas.openxmlformats.org/drawingml/2006/main">
              <a:ext uri="{FF2B5EF4-FFF2-40B4-BE49-F238E27FC236}">
                <a16:creationId xmlns:a16="http://schemas.microsoft.com/office/drawing/2014/main" id="{D82B8329-CEF3-42C4-B12C-6B38E5DB8AF3}"/>
              </a:ext>
            </a:extLst>
          </p:cNvPr>
          <p:cNvSpPr>
            <a:spLocks xmlns:a="http://schemas.openxmlformats.org/drawingml/2006/main" noGrp="1"/>
          </p:cNvSpPr>
          <p:nvPr/>
        </p:nvSpPr>
        <p:spPr>
          <a:xfrm xmlns:a="http://schemas.openxmlformats.org/drawingml/2006/main">
            <a:off x="4953000" y="3714750"/>
            <a:ext cx="6553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72B40"/>
                </a:solidFill>
                <a:latin typeface="Lato"/>
                <a:ea typeface="Lato"/>
                <a:cs typeface="Lato"/>
              </a:defRPr>
            </a:pPr>
            <a:r>
              <a:rPr sz="2175" b="0">
                <a:solidFill>
                  <a:srgbClr val="172B40"/>
                </a:solidFill>
                <a:latin typeface="Lato"/>
                <a:ea typeface="Lato"/>
                <a:cs typeface="Lato"/>
              </a:rPr>
              <a:t>Holding the singlet or headgear</a:t>
            </a:r>
          </a:p>
        </p:txBody>
      </p:sp>
      <p:sp>
        <p:nvSpPr>
          <p:cNvPr id="11" name="">
            <a:extLst xmlns:a="http://schemas.openxmlformats.org/drawingml/2006/main">
              <a:ext uri="{FF2B5EF4-FFF2-40B4-BE49-F238E27FC236}">
                <a16:creationId xmlns:a16="http://schemas.microsoft.com/office/drawing/2014/main" id="{5747A055-A61B-4753-B7F4-13F8E55F1633}"/>
              </a:ext>
            </a:extLst>
          </p:cNvPr>
          <p:cNvSpPr>
            <a:spLocks xmlns:a="http://schemas.openxmlformats.org/drawingml/2006/main" noGrp="1"/>
          </p:cNvSpPr>
          <p:nvPr/>
        </p:nvSpPr>
        <p:spPr>
          <a:xfrm xmlns:a="http://schemas.openxmlformats.org/drawingml/2006/main">
            <a:off x="685800" y="4352925"/>
            <a:ext cx="4143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5C91"/>
                </a:solidFill>
                <a:latin typeface="Lato"/>
                <a:ea typeface="Lato"/>
                <a:cs typeface="Lato"/>
              </a:defRPr>
            </a:pPr>
            <a:r>
              <a:rPr sz="2025" b="1">
                <a:solidFill>
                  <a:srgbClr val="185C91"/>
                </a:solidFill>
                <a:latin typeface="Lato"/>
                <a:ea typeface="Lato"/>
                <a:cs typeface="Lato"/>
              </a:rPr>
              <a:t>ILLEGAL HOLD</a:t>
            </a:r>
          </a:p>
        </p:txBody>
      </p:sp>
      <p:sp>
        <p:nvSpPr>
          <p:cNvPr id="12" name="">
            <a:extLst xmlns:a="http://schemas.openxmlformats.org/drawingml/2006/main">
              <a:ext uri="{FF2B5EF4-FFF2-40B4-BE49-F238E27FC236}">
                <a16:creationId xmlns:a16="http://schemas.microsoft.com/office/drawing/2014/main" id="{14F7EABF-6F7A-426B-AF99-3A47329F50B6}"/>
              </a:ext>
            </a:extLst>
          </p:cNvPr>
          <p:cNvSpPr>
            <a:spLocks xmlns:a="http://schemas.openxmlformats.org/drawingml/2006/main" noGrp="1"/>
          </p:cNvSpPr>
          <p:nvPr/>
        </p:nvSpPr>
        <p:spPr>
          <a:xfrm xmlns:a="http://schemas.openxmlformats.org/drawingml/2006/main">
            <a:off x="4953000" y="4343400"/>
            <a:ext cx="6553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72B40"/>
                </a:solidFill>
                <a:latin typeface="Lato"/>
                <a:ea typeface="Lato"/>
                <a:cs typeface="Lato"/>
              </a:defRPr>
            </a:pPr>
            <a:r>
              <a:rPr sz="2175" b="0">
                <a:solidFill>
                  <a:srgbClr val="172B40"/>
                </a:solidFill>
                <a:latin typeface="Lato"/>
                <a:ea typeface="Lato"/>
                <a:cs typeface="Lato"/>
              </a:rPr>
              <a:t>For example, a full nelson</a:t>
            </a:r>
          </a:p>
        </p:txBody>
      </p:sp>
      <p:sp>
        <p:nvSpPr>
          <p:cNvPr id="13" name="">
            <a:extLst xmlns:a="http://schemas.openxmlformats.org/drawingml/2006/main">
              <a:ext uri="{FF2B5EF4-FFF2-40B4-BE49-F238E27FC236}">
                <a16:creationId xmlns:a16="http://schemas.microsoft.com/office/drawing/2014/main" id="{6CF2B9A4-A077-4A27-83D9-C450183231E7}"/>
              </a:ext>
            </a:extLst>
          </p:cNvPr>
          <p:cNvSpPr>
            <a:spLocks xmlns:a="http://schemas.openxmlformats.org/drawingml/2006/main" noGrp="1"/>
          </p:cNvSpPr>
          <p:nvPr/>
        </p:nvSpPr>
        <p:spPr>
          <a:xfrm xmlns:a="http://schemas.openxmlformats.org/drawingml/2006/main">
            <a:off x="685800" y="4981575"/>
            <a:ext cx="4143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5C91"/>
                </a:solidFill>
                <a:latin typeface="Lato"/>
                <a:ea typeface="Lato"/>
                <a:cs typeface="Lato"/>
              </a:defRPr>
            </a:pPr>
            <a:r>
              <a:rPr sz="2025" b="1">
                <a:solidFill>
                  <a:srgbClr val="185C91"/>
                </a:solidFill>
                <a:latin typeface="Lato"/>
                <a:ea typeface="Lato"/>
                <a:cs typeface="Lato"/>
              </a:rPr>
              <a:t>ROUGHNESS OR DISRESPECT</a:t>
            </a:r>
          </a:p>
        </p:txBody>
      </p:sp>
      <p:sp>
        <p:nvSpPr>
          <p:cNvPr id="14" name="">
            <a:extLst xmlns:a="http://schemas.openxmlformats.org/drawingml/2006/main">
              <a:ext uri="{FF2B5EF4-FFF2-40B4-BE49-F238E27FC236}">
                <a16:creationId xmlns:a16="http://schemas.microsoft.com/office/drawing/2014/main" id="{CE40B466-4BC0-42DB-A042-C31B1420F5F3}"/>
              </a:ext>
            </a:extLst>
          </p:cNvPr>
          <p:cNvSpPr>
            <a:spLocks xmlns:a="http://schemas.openxmlformats.org/drawingml/2006/main" noGrp="1"/>
          </p:cNvSpPr>
          <p:nvPr/>
        </p:nvSpPr>
        <p:spPr>
          <a:xfrm xmlns:a="http://schemas.openxmlformats.org/drawingml/2006/main">
            <a:off x="4953000" y="4972050"/>
            <a:ext cx="6553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72B40"/>
                </a:solidFill>
                <a:latin typeface="Lato"/>
                <a:ea typeface="Lato"/>
                <a:cs typeface="Lato"/>
              </a:defRPr>
            </a:pPr>
            <a:r>
              <a:rPr sz="2175" b="0">
                <a:solidFill>
                  <a:srgbClr val="172B40"/>
                </a:solidFill>
                <a:latin typeface="Lato"/>
                <a:ea typeface="Lato"/>
                <a:cs typeface="Lato"/>
              </a:rPr>
              <a:t>Unnecessary force, taunting or abuse</a:t>
            </a:r>
          </a:p>
        </p:txBody>
      </p:sp>
      <p:sp>
        <p:nvSpPr>
          <p:cNvPr id="15" name="">
            <a:extLst xmlns:a="http://schemas.openxmlformats.org/drawingml/2006/main">
              <a:ext uri="{FF2B5EF4-FFF2-40B4-BE49-F238E27FC236}">
                <a16:creationId xmlns:a16="http://schemas.microsoft.com/office/drawing/2014/main" id="{1F027EED-47E8-4C6B-81E7-581D309B1F00}"/>
              </a:ext>
            </a:extLst>
          </p:cNvPr>
          <p:cNvSpPr>
            <a:spLocks xmlns:a="http://schemas.openxmlformats.org/drawingml/2006/main" noGrp="1"/>
          </p:cNvSpPr>
          <p:nvPr/>
        </p:nvSpPr>
        <p:spPr>
          <a:xfrm xmlns:a="http://schemas.openxmlformats.org/drawingml/2006/main">
            <a:off x="685800" y="5857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85C91"/>
                </a:solidFill>
                <a:latin typeface="Lato"/>
                <a:ea typeface="Lato"/>
                <a:cs typeface="Lato"/>
              </a:defRPr>
            </a:pPr>
            <a:r>
              <a:rPr sz="1875" b="1">
                <a:solidFill>
                  <a:srgbClr val="185C91"/>
                </a:solidFill>
                <a:latin typeface="Lato"/>
                <a:ea typeface="Lato"/>
                <a:cs typeface="Lato"/>
              </a:rPr>
              <a:t>Points go to the opponent. A safety or boundary stop can carry no penalty.</a:t>
            </a:r>
          </a:p>
        </p:txBody>
      </p:sp>
      <p:sp>
        <p:nvSpPr>
          <p:cNvPr id="16" name="">
            <a:extLst xmlns:a="http://schemas.openxmlformats.org/drawingml/2006/main">
              <a:ext uri="{FF2B5EF4-FFF2-40B4-BE49-F238E27FC236}">
                <a16:creationId xmlns:a16="http://schemas.microsoft.com/office/drawing/2014/main" id="{951090F0-788C-4BA5-A81A-A44905D53635}"/>
              </a:ext>
            </a:extLst>
          </p:cNvPr>
          <p:cNvSpPr>
            <a:spLocks xmlns:a="http://schemas.openxmlformats.org/drawingml/2006/main" noGrp="1"/>
          </p:cNvSpPr>
          <p:nvPr/>
        </p:nvSpPr>
        <p:spPr>
          <a:xfrm xmlns:a="http://schemas.openxmlformats.org/drawingml/2006/main">
            <a:off x="11239500" y="6305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486177"/>
                </a:solidFill>
                <a:latin typeface="Lato"/>
                <a:ea typeface="Lato"/>
                <a:cs typeface="Lato"/>
              </a:defRPr>
            </a:pPr>
            <a:r>
              <a:rPr sz="1350" b="0">
                <a:solidFill>
                  <a:srgbClr val="486177"/>
                </a:solidFill>
                <a:latin typeface="Lato"/>
                <a:ea typeface="Lato"/>
                <a:cs typeface="Lato"/>
              </a:rPr>
              <a:t>16</a:t>
            </a:r>
          </a:p>
        </p:txBody>
      </p:sp>
    </p:spTree>
    <p:extLst>
      <p:ext uri="{BB962C8B-B14F-4D97-AF65-F5344CB8AC3E}">
        <p14:creationId xmlns:p14="http://schemas.microsoft.com/office/powerpoint/2010/main" val="13749300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2026-09-26T10:43:02.9510000Z</dcterms:created>
  <dcterms:modified xsi:type="dcterms:W3CDTF">2026-09-26T10:43:02.9510000Z</dcterms:modified>
</coreProperties>
</file>